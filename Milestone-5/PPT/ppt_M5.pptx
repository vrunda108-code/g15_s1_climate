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rial Bold" panose="020B0704020202020204" pitchFamily="34" charset="0"/>
      <p:regular r:id="rId22"/>
      <p:bold r:id="rId23"/>
    </p:embeddedFont>
    <p:embeddedFont>
      <p:font typeface="Canva Sans" panose="020B0503030501040103" pitchFamily="34" charset="0"/>
      <p:regular r:id="rId24"/>
    </p:embeddedFont>
    <p:embeddedFont>
      <p:font typeface="Canva Sans Bold" panose="020B0803030501040103" pitchFamily="34" charset="0"/>
      <p:regular r:id="rId25"/>
      <p:bold r:id="rId26"/>
    </p:embeddedFont>
    <p:embeddedFont>
      <p:font typeface="Canva Sans Italics" panose="020B0503030501040103" pitchFamily="34" charset="0"/>
      <p:regular r:id="rId27"/>
      <p:italic r:id="rId28"/>
    </p:embeddedFont>
    <p:embeddedFont>
      <p:font typeface="Canva Sans Medium" panose="020B0603030501040103" pitchFamily="34" charset="0"/>
      <p:regular r:id="rId29"/>
    </p:embeddedFont>
    <p:embeddedFont>
      <p:font typeface="Helvetica World" pitchFamily="2" charset="0"/>
      <p:regular r:id="rId30"/>
    </p:embeddedFont>
    <p:embeddedFont>
      <p:font typeface="Helvetica World Bold" pitchFamily="2" charset="0"/>
      <p:regular r:id="rId31"/>
    </p:embeddedFont>
    <p:embeddedFont>
      <p:font typeface="IBM Plex Sans Bold" panose="020B0803050203000203" pitchFamily="34" charset="0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6" autoAdjust="0"/>
    <p:restoredTop sz="95467" autoAdjust="0"/>
  </p:normalViewPr>
  <p:slideViewPr>
    <p:cSldViewPr>
      <p:cViewPr varScale="1">
        <p:scale>
          <a:sx n="83" d="100"/>
          <a:sy n="83" d="100"/>
        </p:scale>
        <p:origin x="28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353D3-EBAB-C248-AEC5-BD612BF45D7B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5325-8B3D-4E43-A17B-CF072A388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A5325-8B3D-4E43-A17B-CF072A388C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67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Hello everyone,</a:t>
            </a:r>
          </a:p>
          <a:p>
            <a:r>
              <a:rPr lang="en-IN" dirty="0"/>
              <a:t>In this slide, I will explain the </a:t>
            </a:r>
            <a:r>
              <a:rPr lang="en-IN" b="1" dirty="0"/>
              <a:t>background and motivation</a:t>
            </a:r>
            <a:r>
              <a:rPr lang="en-IN" dirty="0"/>
              <a:t> behind our project.</a:t>
            </a:r>
          </a:p>
          <a:p>
            <a:r>
              <a:rPr lang="en-IN" dirty="0"/>
              <a:t>Agriculture in India is heavily dependent on </a:t>
            </a:r>
            <a:r>
              <a:rPr lang="en-IN" b="1" dirty="0"/>
              <a:t>monsoon rainfall</a:t>
            </a:r>
            <a:r>
              <a:rPr lang="en-IN" dirty="0"/>
              <a:t>. Farmers rely on rainfall to make important decisions such as when to sow crops, how to manage  irrigation, and how to allocate resources. However, monsoon rainfall is </a:t>
            </a:r>
            <a:r>
              <a:rPr lang="en-IN" b="1" dirty="0"/>
              <a:t>highly uncertain and variable</a:t>
            </a:r>
            <a:r>
              <a:rPr lang="en-IN" dirty="0"/>
              <a:t>. Some years receive sufficient rainfall, while others may experience drought or uneven distribution.</a:t>
            </a:r>
          </a:p>
          <a:p>
            <a:r>
              <a:rPr lang="en-IN" dirty="0"/>
              <a:t>This uncertainty creates a major problem. If rainfall predictions are incorrect, it can lead to </a:t>
            </a:r>
            <a:r>
              <a:rPr lang="en-IN" b="1" dirty="0"/>
              <a:t>crop failure, financial loss, poor irrigation planning, and food insecurity</a:t>
            </a:r>
            <a:r>
              <a:rPr lang="en-IN" dirty="0"/>
              <a:t>. Therefore, accurate rainfall prediction is extremely important for agricultural sustainability.</a:t>
            </a:r>
          </a:p>
          <a:p>
            <a:r>
              <a:rPr lang="en-IN" dirty="0"/>
              <a:t>From a </a:t>
            </a:r>
            <a:r>
              <a:rPr lang="en-IN" b="1" dirty="0"/>
              <a:t>course perspective</a:t>
            </a:r>
            <a:r>
              <a:rPr lang="en-IN" dirty="0"/>
              <a:t>, this problem is a perfect example of </a:t>
            </a:r>
            <a:r>
              <a:rPr lang="en-IN" b="1" dirty="0"/>
              <a:t>probabilistic computing</a:t>
            </a:r>
            <a:r>
              <a:rPr lang="en-IN" dirty="0"/>
              <a:t>. Rainfall is not deterministic; it behaves like a </a:t>
            </a:r>
            <a:r>
              <a:rPr lang="en-IN" b="1" dirty="0"/>
              <a:t>random variable</a:t>
            </a:r>
            <a:r>
              <a:rPr lang="en-IN" dirty="0"/>
              <a:t> influenced by complex atmospheric processes. Because of this, we cannot rely only on fixed predictions.</a:t>
            </a:r>
          </a:p>
          <a:p>
            <a:r>
              <a:rPr lang="en-IN" dirty="0"/>
              <a:t>This project applies key concepts from our course such as </a:t>
            </a:r>
            <a:r>
              <a:rPr lang="en-IN" b="1" dirty="0"/>
              <a:t>random variables, conditional probability, Bayesian reasoning, and simulation techniques</a:t>
            </a:r>
            <a:r>
              <a:rPr lang="en-IN" dirty="0"/>
              <a:t>.</a:t>
            </a:r>
          </a:p>
          <a:p>
            <a:r>
              <a:rPr lang="en-IN" dirty="0"/>
              <a:t>A major limitation of traditional forecasting systems is that they provide </a:t>
            </a:r>
            <a:r>
              <a:rPr lang="en-IN" b="1" dirty="0"/>
              <a:t>deterministic outputs</a:t>
            </a:r>
            <a:r>
              <a:rPr lang="en-IN" dirty="0"/>
              <a:t>, meaning they give a single predicted rainfall value. However, a single number does not represent the uncertainty in the system.</a:t>
            </a:r>
          </a:p>
          <a:p>
            <a:r>
              <a:rPr lang="en-IN" dirty="0"/>
              <a:t>For example, predicting 800 mm rainfall does not tell us how confident the model is.</a:t>
            </a:r>
          </a:p>
          <a:p>
            <a:r>
              <a:rPr lang="en-IN" dirty="0"/>
              <a:t>Instead, what farmers really need is a </a:t>
            </a:r>
            <a:r>
              <a:rPr lang="en-IN" b="1" dirty="0"/>
              <a:t>probabilistic forecast</a:t>
            </a:r>
            <a:r>
              <a:rPr lang="en-IN" dirty="0"/>
              <a:t>. That means we estimate the </a:t>
            </a:r>
            <a:r>
              <a:rPr lang="en-IN" b="1" dirty="0"/>
              <a:t>likelihood of different rainfall outcomes</a:t>
            </a:r>
            <a:r>
              <a:rPr lang="en-IN" dirty="0"/>
              <a:t>, especially whether rainfall will be sufficient for crop growth.</a:t>
            </a:r>
          </a:p>
          <a:p>
            <a:r>
              <a:rPr lang="en-IN" dirty="0"/>
              <a:t>Therefore, the main goal of our project is to </a:t>
            </a:r>
            <a:r>
              <a:rPr lang="en-IN" b="1" dirty="0"/>
              <a:t>quantify uncertainty and provide probability-based predictions</a:t>
            </a:r>
            <a:r>
              <a:rPr lang="en-IN" dirty="0"/>
              <a:t>, which can help farmers make better and more informed decisions.</a:t>
            </a:r>
            <a:endParaRPr lang="en-IN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A5325-8B3D-4E43-A17B-CF072A388C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38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Our project is based on a research paper by </a:t>
            </a:r>
            <a:r>
              <a:rPr lang="en-IN" b="1" dirty="0"/>
              <a:t>Samal et al., published in 2023 in the Journal of Hydrology: Regional Studies</a:t>
            </a:r>
            <a:r>
              <a:rPr lang="en-IN" dirty="0"/>
              <a:t>.</a:t>
            </a:r>
          </a:p>
          <a:p>
            <a:r>
              <a:rPr lang="en-IN" dirty="0"/>
              <a:t>The paper is titled </a:t>
            </a:r>
            <a:r>
              <a:rPr lang="en-IN" i="1" dirty="0"/>
              <a:t>“Using Bayesian Joint Probability to Improve Indian Monsoon Forecasts.”</a:t>
            </a:r>
            <a:endParaRPr lang="en-IN" dirty="0"/>
          </a:p>
          <a:p>
            <a:r>
              <a:rPr lang="en-IN" dirty="0"/>
              <a:t>The key idea of this paper is the use of a </a:t>
            </a:r>
            <a:r>
              <a:rPr lang="en-IN" b="1" dirty="0"/>
              <a:t>Bayesian Joint Probability (BJP) framework</a:t>
            </a:r>
            <a:r>
              <a:rPr lang="en-IN" dirty="0"/>
              <a:t>.</a:t>
            </a:r>
          </a:p>
          <a:p>
            <a:r>
              <a:rPr lang="en-IN" dirty="0"/>
              <a:t>This framework models both </a:t>
            </a:r>
            <a:r>
              <a:rPr lang="en-IN" b="1" dirty="0"/>
              <a:t>forecast rainfall and observed rainfall together as a joint probability distribution</a:t>
            </a:r>
            <a:r>
              <a:rPr lang="en-IN" dirty="0"/>
              <a:t>. Using this approach, deterministic forecasts can be converted into </a:t>
            </a:r>
            <a:r>
              <a:rPr lang="en-IN" b="1" dirty="0"/>
              <a:t>probabilistic forecasts</a:t>
            </a:r>
            <a:r>
              <a:rPr lang="en-IN" dirty="0"/>
              <a:t>.</a:t>
            </a:r>
          </a:p>
          <a:p>
            <a:r>
              <a:rPr lang="en-IN" dirty="0"/>
              <a:t>One important contribution of the paper is that it applies this framework specifically to </a:t>
            </a:r>
            <a:r>
              <a:rPr lang="en-IN" b="1" dirty="0"/>
              <a:t>Indian monsoon rainfall</a:t>
            </a:r>
            <a:r>
              <a:rPr lang="en-IN" dirty="0"/>
              <a:t>, which is known to be highly complex and uncertain.</a:t>
            </a:r>
          </a:p>
          <a:p>
            <a:r>
              <a:rPr lang="en-IN" dirty="0"/>
              <a:t>Another key result from the paper is that </a:t>
            </a:r>
            <a:r>
              <a:rPr lang="en-IN" b="1" dirty="0"/>
              <a:t>seasonal calibration performs better than annual calibration</a:t>
            </a:r>
            <a:r>
              <a:rPr lang="en-IN" dirty="0"/>
              <a:t>, meaning focusing on monsoon months improves prediction accuracy.</a:t>
            </a:r>
          </a:p>
          <a:p>
            <a:r>
              <a:rPr lang="en-IN" dirty="0"/>
              <a:t>The paper demonstrates that probabilistic methods provide </a:t>
            </a:r>
            <a:r>
              <a:rPr lang="en-IN" b="1" dirty="0"/>
              <a:t>better and more reliable forecasts</a:t>
            </a:r>
            <a:r>
              <a:rPr lang="en-IN" dirty="0"/>
              <a:t> compared to traditional deterministic approaches.</a:t>
            </a:r>
          </a:p>
          <a:p>
            <a:r>
              <a:rPr lang="en-IN" dirty="0"/>
              <a:t>We selected this paper for our project because:</a:t>
            </a:r>
          </a:p>
          <a:p>
            <a:r>
              <a:rPr lang="en-IN" dirty="0"/>
              <a:t>First, it provides a </a:t>
            </a:r>
            <a:r>
              <a:rPr lang="en-IN" b="1" dirty="0"/>
              <a:t>strong mathematical foundation based on probability and statistics</a:t>
            </a:r>
            <a:r>
              <a:rPr lang="en-IN" dirty="0"/>
              <a:t>.</a:t>
            </a:r>
          </a:p>
          <a:p>
            <a:r>
              <a:rPr lang="en-IN" dirty="0"/>
              <a:t>Second, it is directly related to </a:t>
            </a:r>
            <a:r>
              <a:rPr lang="en-IN" b="1" dirty="0"/>
              <a:t>Indian rainfall data</a:t>
            </a:r>
            <a:r>
              <a:rPr lang="en-IN" dirty="0"/>
              <a:t>, making it highly relevant to real-world agricultural problems.</a:t>
            </a:r>
          </a:p>
          <a:p>
            <a:r>
              <a:rPr lang="en-IN" dirty="0"/>
              <a:t>Third, the BJP framework naturally supports </a:t>
            </a:r>
            <a:r>
              <a:rPr lang="en-IN" b="1" dirty="0"/>
              <a:t>decision-making under uncertainty</a:t>
            </a:r>
            <a:r>
              <a:rPr lang="en-IN" dirty="0"/>
              <a:t>, which aligns perfectly with the goals of our project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A5325-8B3D-4E43-A17B-CF072A388C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30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 this slide, I will briefly explain the dataset used in our project.</a:t>
            </a:r>
          </a:p>
          <a:p>
            <a:r>
              <a:rPr lang="en-IN" dirty="0"/>
              <a:t>For our implementation, we used the </a:t>
            </a:r>
            <a:r>
              <a:rPr lang="en-IN" b="1" dirty="0"/>
              <a:t>Rainfall in India dataset available on Kaggle</a:t>
            </a:r>
            <a:r>
              <a:rPr lang="en-IN" dirty="0"/>
              <a:t>. This dataset contains long-term historical rainfall records across different regions of India.</a:t>
            </a:r>
          </a:p>
          <a:p>
            <a:r>
              <a:rPr lang="en-IN" dirty="0"/>
              <a:t>From this dataset, we specifically focused on the </a:t>
            </a:r>
            <a:r>
              <a:rPr lang="en-IN" b="1" dirty="0"/>
              <a:t>Gujarat region</a:t>
            </a:r>
            <a:r>
              <a:rPr lang="en-IN" dirty="0"/>
              <a:t>, since our project aims to study agricultural decision-making under monsoon uncertainty in this region.</a:t>
            </a:r>
          </a:p>
          <a:p>
            <a:r>
              <a:rPr lang="en-IN" dirty="0"/>
              <a:t>The dataset covers a long historical period from </a:t>
            </a:r>
            <a:r>
              <a:rPr lang="en-IN" b="1" dirty="0"/>
              <a:t>1901 to 2015</a:t>
            </a:r>
            <a:r>
              <a:rPr lang="en-IN" dirty="0"/>
              <a:t>, which provides </a:t>
            </a:r>
            <a:r>
              <a:rPr lang="en-IN" b="1" dirty="0"/>
              <a:t>115 years of rainfall observations</a:t>
            </a:r>
            <a:r>
              <a:rPr lang="en-IN" dirty="0"/>
              <a:t>. We mainly considered the </a:t>
            </a:r>
            <a:r>
              <a:rPr lang="en-IN" b="1" dirty="0"/>
              <a:t>monsoon season from June to September</a:t>
            </a:r>
            <a:r>
              <a:rPr lang="en-IN" dirty="0"/>
              <a:t>, because this is the most critical period for agriculture in India.</a:t>
            </a:r>
          </a:p>
          <a:p>
            <a:r>
              <a:rPr lang="en-IN" dirty="0"/>
              <a:t>Using this historical rainfall data, we </a:t>
            </a:r>
            <a:r>
              <a:rPr lang="en-IN" dirty="0" err="1"/>
              <a:t>modeled</a:t>
            </a:r>
            <a:r>
              <a:rPr lang="en-IN" dirty="0"/>
              <a:t> the relationship between </a:t>
            </a:r>
            <a:r>
              <a:rPr lang="en-IN" b="1" dirty="0"/>
              <a:t>forecast rainfall and observed rainfall</a:t>
            </a:r>
            <a:r>
              <a:rPr lang="en-IN" dirty="0"/>
              <a:t>, which allowed us to simulate agricultural decisions such as whether farmers should </a:t>
            </a:r>
            <a:r>
              <a:rPr lang="en-IN" b="1" dirty="0"/>
              <a:t>SOW crops or HOLD planting</a:t>
            </a:r>
            <a:r>
              <a:rPr lang="en-IN" dirty="0"/>
              <a:t> based on rainfall probabilities.</a:t>
            </a:r>
          </a:p>
          <a:p>
            <a:r>
              <a:rPr lang="en-IN" dirty="0"/>
              <a:t>This dataset therefore acts as the </a:t>
            </a:r>
            <a:r>
              <a:rPr lang="en-IN" b="1" dirty="0"/>
              <a:t>foundation for our probabilistic </a:t>
            </a:r>
            <a:r>
              <a:rPr lang="en-IN" b="1" dirty="0" err="1"/>
              <a:t>modeling</a:t>
            </a:r>
            <a:r>
              <a:rPr lang="en-IN" b="1" dirty="0"/>
              <a:t> and simulation experiments</a:t>
            </a:r>
            <a:r>
              <a:rPr lang="en-IN" dirty="0"/>
              <a:t> in the project.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A5325-8B3D-4E43-A17B-CF072A388C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93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hyperlink" Target="https://www.sciencedirect.com/science/article/pii/S221458182200297X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hyperlink" Target="https://www.kaggle.com/datasets/rajanand/rainfall-in-india?resource=downloa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sv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ajanand/rainfall-in-india?resource=download" TargetMode="External"/><Relationship Id="rId2" Type="http://schemas.openxmlformats.org/officeDocument/2006/relationships/hyperlink" Target="https://www.sciencedirect.com/science/article/pii/S221458182200297X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0" y="9025049"/>
            <a:ext cx="13716000" cy="152405"/>
          </a:xfrm>
          <a:custGeom>
            <a:avLst/>
            <a:gdLst/>
            <a:ahLst/>
            <a:cxnLst/>
            <a:rect l="l" t="t" r="r" b="b"/>
            <a:pathLst>
              <a:path w="13716000" h="152405">
                <a:moveTo>
                  <a:pt x="0" y="0"/>
                </a:moveTo>
                <a:lnTo>
                  <a:pt x="13716000" y="0"/>
                </a:lnTo>
                <a:lnTo>
                  <a:pt x="13716000" y="152405"/>
                </a:lnTo>
                <a:lnTo>
                  <a:pt x="0" y="152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9025049"/>
            <a:ext cx="3898073" cy="152405"/>
          </a:xfrm>
          <a:custGeom>
            <a:avLst/>
            <a:gdLst/>
            <a:ahLst/>
            <a:cxnLst/>
            <a:rect l="l" t="t" r="r" b="b"/>
            <a:pathLst>
              <a:path w="3898073" h="152405">
                <a:moveTo>
                  <a:pt x="0" y="0"/>
                </a:moveTo>
                <a:lnTo>
                  <a:pt x="3898073" y="0"/>
                </a:lnTo>
                <a:lnTo>
                  <a:pt x="3898073" y="152405"/>
                </a:lnTo>
                <a:lnTo>
                  <a:pt x="0" y="152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89927" y="9025049"/>
            <a:ext cx="3898073" cy="152405"/>
          </a:xfrm>
          <a:custGeom>
            <a:avLst/>
            <a:gdLst/>
            <a:ahLst/>
            <a:cxnLst/>
            <a:rect l="l" t="t" r="r" b="b"/>
            <a:pathLst>
              <a:path w="3898073" h="152405">
                <a:moveTo>
                  <a:pt x="0" y="0"/>
                </a:moveTo>
                <a:lnTo>
                  <a:pt x="3898073" y="0"/>
                </a:lnTo>
                <a:lnTo>
                  <a:pt x="3898073" y="152405"/>
                </a:lnTo>
                <a:lnTo>
                  <a:pt x="0" y="152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9025049"/>
            <a:ext cx="18288000" cy="152405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064401" y="1109546"/>
            <a:ext cx="6159198" cy="2021581"/>
          </a:xfrm>
          <a:custGeom>
            <a:avLst/>
            <a:gdLst/>
            <a:ahLst/>
            <a:cxnLst/>
            <a:rect l="l" t="t" r="r" b="b"/>
            <a:pathLst>
              <a:path w="6159198" h="2021581">
                <a:moveTo>
                  <a:pt x="0" y="0"/>
                </a:moveTo>
                <a:lnTo>
                  <a:pt x="6159198" y="0"/>
                </a:lnTo>
                <a:lnTo>
                  <a:pt x="6159198" y="2021581"/>
                </a:lnTo>
                <a:lnTo>
                  <a:pt x="0" y="2021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064401" y="1109546"/>
            <a:ext cx="6159198" cy="2021581"/>
            <a:chOff x="0" y="0"/>
            <a:chExt cx="5474843" cy="17969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74843" cy="1796923"/>
            </a:xfrm>
            <a:custGeom>
              <a:avLst/>
              <a:gdLst/>
              <a:ahLst/>
              <a:cxnLst/>
              <a:rect l="l" t="t" r="r" b="b"/>
              <a:pathLst>
                <a:path w="5474843" h="1796923">
                  <a:moveTo>
                    <a:pt x="0" y="0"/>
                  </a:moveTo>
                  <a:lnTo>
                    <a:pt x="5474843" y="0"/>
                  </a:lnTo>
                  <a:lnTo>
                    <a:pt x="5474843" y="1796923"/>
                  </a:lnTo>
                  <a:lnTo>
                    <a:pt x="0" y="1796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2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319215" y="3196314"/>
            <a:ext cx="15649570" cy="5904938"/>
          </a:xfrm>
          <a:custGeom>
            <a:avLst/>
            <a:gdLst/>
            <a:ahLst/>
            <a:cxnLst/>
            <a:rect l="l" t="t" r="r" b="b"/>
            <a:pathLst>
              <a:path w="15649570" h="5904938">
                <a:moveTo>
                  <a:pt x="0" y="0"/>
                </a:moveTo>
                <a:lnTo>
                  <a:pt x="15649570" y="0"/>
                </a:lnTo>
                <a:lnTo>
                  <a:pt x="15649570" y="5904938"/>
                </a:lnTo>
                <a:lnTo>
                  <a:pt x="0" y="5904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603082" y="5323553"/>
            <a:ext cx="2850528" cy="361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Jahnavi Panchal Vrunda Patel Yash Kyada Mohammad Ali Het Patel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38131" y="5323553"/>
            <a:ext cx="2051914" cy="361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89"/>
              </a:lnSpc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AU2440010 AU2440152 AU2340218 AU2340234 AU2440221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60900" y="5323553"/>
            <a:ext cx="2349478" cy="358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89"/>
              </a:lnSpc>
            </a:pPr>
            <a:r>
              <a:rPr lang="en-US" sz="2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B.Tech CSE B.Tech CSE B.Tech CSE B.Tech CSE B.Tech   CSE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4758" y="4308184"/>
            <a:ext cx="2538660" cy="67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 spc="35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Group - 15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0177" y="3341634"/>
            <a:ext cx="10851585" cy="93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 spc="48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CLIMATE &amp; WEATHER SYSTEMS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2565" t="-156165" r="-72141" b="-15651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0269" y="1829499"/>
            <a:ext cx="14507274" cy="680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Practical :-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Indian agriculture relies heavily on monsoon rainfall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 prediction leads to crop failure, inefficient irrigation, droughts, floods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Monsoon rains exhibit high variability and unpredictability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Academic Context :-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Inherent probabilistic computing application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Illustrates: random variables, conditional probability, Bayesian inference, simulation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Central Question :-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Deterministic predictions conceal uncertainty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Probability estimates needed for farmers, not just values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Primary objective: Measure prediction confidence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29873" y="252136"/>
            <a:ext cx="9228254" cy="103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Background &amp;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195820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2565" t="-156165" r="-72141" b="-15651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27720" y="84444"/>
            <a:ext cx="7432560" cy="99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Base Paper Overview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6800" y="1249047"/>
            <a:ext cx="17063535" cy="8032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Paper :- 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Samal et al., 2023, Journal of Hydrology: Regional Studies</a:t>
            </a:r>
          </a:p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(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https://www.sciencedirect.com/science/article/pii/S221458182200297X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4199"/>
              </a:lnSpc>
            </a:pPr>
            <a:r>
              <a:rPr lang="en-US" sz="2999" b="1" dirty="0">
                <a:solidFill>
                  <a:srgbClr val="000000"/>
                </a:solidFill>
                <a:latin typeface="Arial"/>
                <a:ea typeface="Arial Bold"/>
                <a:cs typeface="Arial"/>
                <a:sym typeface="Arial"/>
              </a:rPr>
              <a:t>Title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 Bold"/>
                <a:cs typeface="Arial"/>
                <a:sym typeface="Arial"/>
              </a:rPr>
              <a:t> </a:t>
            </a: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:-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N" dirty="0"/>
              <a:t> </a:t>
            </a:r>
            <a:r>
              <a:rPr lang="en-IN" sz="3000" dirty="0"/>
              <a:t>Using a Bayesian joint probability approach to improve the skill of medium-range forecasts of the Indian summer monsoon rainfall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Contributions :-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application of BJP in Indian context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Determistic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forecast to Probabilistic forecasting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Seasonal calibration better than Annual calibration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Reason for choosing :-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Mathematically sound model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Applicable in real-life India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support under uncertain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2565" t="-156165" r="-72141" b="-15651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14153" y="271103"/>
            <a:ext cx="8859694" cy="983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Our Project  Adaptation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6739" y="6731225"/>
            <a:ext cx="10705291" cy="213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Our Simplification :-</a:t>
            </a:r>
          </a:p>
          <a:p>
            <a:pPr marL="647700" lvl="1" indent="-323850" algn="l">
              <a:lnSpc>
                <a:spcPts val="4200"/>
              </a:lnSpc>
              <a:buAutoNum type="arabicPeriod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Preserves essential Bayesian logic</a:t>
            </a:r>
          </a:p>
          <a:p>
            <a:pPr marL="647700" lvl="1" indent="-323850" algn="l">
              <a:lnSpc>
                <a:spcPts val="4200"/>
              </a:lnSpc>
              <a:buAutoNum type="arabicPeriod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 M3 (deterministic) vs M4 (randomized) comparison</a:t>
            </a:r>
          </a:p>
          <a:p>
            <a:pPr marL="647700" lvl="1" indent="-323850" algn="l">
              <a:lnSpc>
                <a:spcPts val="4200"/>
              </a:lnSpc>
              <a:buAutoNum type="arabicPeriod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Easier to implement and explain</a:t>
            </a: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081E0820-40BE-D77C-A0DC-C9F75D043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01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8BB22A7-0AE6-88A9-661C-28060D0AC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343228"/>
              </p:ext>
            </p:extLst>
          </p:nvPr>
        </p:nvGraphicFramePr>
        <p:xfrm>
          <a:off x="2476500" y="1866900"/>
          <a:ext cx="13335000" cy="4443501"/>
        </p:xfrm>
        <a:graphic>
          <a:graphicData uri="http://schemas.openxmlformats.org/drawingml/2006/table">
            <a:tbl>
              <a:tblPr/>
              <a:tblGrid>
                <a:gridCol w="6667500">
                  <a:extLst>
                    <a:ext uri="{9D8B030D-6E8A-4147-A177-3AD203B41FA5}">
                      <a16:colId xmlns:a16="http://schemas.microsoft.com/office/drawing/2014/main" val="430244203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3710008454"/>
                    </a:ext>
                  </a:extLst>
                </a:gridCol>
              </a:tblGrid>
              <a:tr h="7683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Project Dataset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4611"/>
                  </a:ext>
                </a:extLst>
              </a:tr>
              <a:tr h="998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Source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Kaggle – Rainfall in India dataset (</a:t>
                      </a: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9"/>
                        </a:rPr>
                        <a:t>https://www.kaggle.com/datasets/rajanand/rainfall-in-india?resource=download</a:t>
                      </a: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445515"/>
                  </a:ext>
                </a:extLst>
              </a:tr>
              <a:tr h="660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 Used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Gujarat Region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61816"/>
                  </a:ext>
                </a:extLst>
              </a:tr>
              <a:tr h="660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 Period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1901 – 2015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41491"/>
                  </a:ext>
                </a:extLst>
              </a:tr>
              <a:tr h="660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June – September (Monsoon)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462252"/>
                  </a:ext>
                </a:extLst>
              </a:tr>
              <a:tr h="686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Rainfall analysis for SOW/HOLD decision modelling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660479"/>
                  </a:ext>
                </a:extLst>
              </a:tr>
            </a:tbl>
          </a:graphicData>
        </a:graphic>
      </p:graphicFrame>
      <p:sp>
        <p:nvSpPr>
          <p:cNvPr id="21" name="Rectangle 2">
            <a:extLst>
              <a:ext uri="{FF2B5EF4-FFF2-40B4-BE49-F238E27FC236}">
                <a16:creationId xmlns:a16="http://schemas.microsoft.com/office/drawing/2014/main" id="{8A3E984E-CCDE-5B1D-3803-D76AC86BA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839200" y="1445219"/>
            <a:ext cx="2963333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57428" y="237091"/>
            <a:ext cx="8173145" cy="1123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Problem Formulation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3930" y="1805098"/>
            <a:ext cx="3568303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we solve: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5102" y="2485818"/>
            <a:ext cx="17831660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a forecast signal, estimate the probability that actual monsoon rainfall exceeds a critical threshold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90108" y="3428794"/>
            <a:ext cx="3707783" cy="60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 ( Y &gt; t ∣ X = x)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3930" y="3985055"/>
            <a:ext cx="2980849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Decision Made: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02349" y="4756066"/>
            <a:ext cx="8277167" cy="1280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If P (Y &gt; t ∣ X = x) &gt;= 0.5, then SOW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If P (Y &gt; t ∣ X = x) &lt; 0.5, then HOLD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9661" y="6161200"/>
            <a:ext cx="2709386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Assumptions: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9661" y="7893440"/>
            <a:ext cx="1964888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Objective: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9661" y="6841921"/>
            <a:ext cx="16650302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Monsoon rainfall is uncertain and stochastic.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threshold t = 90% of historical mean rainfall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325" y="8574161"/>
            <a:ext cx="16650302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Farmers can easily decide from binary SOW / HOLD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82624" y="237091"/>
            <a:ext cx="7722751" cy="1123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Mathematical Model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0897" y="1494092"/>
            <a:ext cx="3658672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Random Variables: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5102" y="2095293"/>
            <a:ext cx="17831660" cy="156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: forecast rainfall (transformed)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: observed rainfall (transformed)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 = Y&gt;t : threshold exceedance event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3930" y="3676444"/>
            <a:ext cx="2392918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Joint Model: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531" y="5278652"/>
            <a:ext cx="5692635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Conditional Distribution: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90108" y="4147615"/>
            <a:ext cx="3707783" cy="64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(X, Y) ∼ 𝒩₂(μ, Σ)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531" y="6883298"/>
            <a:ext cx="5692635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Exceedance Probabilty: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27796" y="5933564"/>
            <a:ext cx="6026272" cy="1280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 | X = x ∼ 𝒩(μᵧ|ₓ, σ²ᵧ|ₓ)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3599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474400" y="7765233"/>
            <a:ext cx="9533063" cy="1280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P(Y &gt; t ∣ X = x) = 1 − Φ((t − μᵧ|ₓ) / σᵧ|ₓ)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3599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1076" y="237091"/>
            <a:ext cx="17265848" cy="1123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Why This Mathematical Model is Appropriate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8170" y="2511124"/>
            <a:ext cx="17831660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rainfall is right-skewed in raw form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log transformation to reduce skewness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673" y="1754933"/>
            <a:ext cx="5490350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Why log transformation: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3720799"/>
            <a:ext cx="9053469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Why ρ (correlation) is the key parameter: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5102" y="4591050"/>
            <a:ext cx="17831660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ρ=0, forecast gives zero information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ρ=0, forecast shifts the posterior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041" y="237091"/>
            <a:ext cx="16609159" cy="1052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Bounds / Constraints Used in the Problem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522" y="1574475"/>
            <a:ext cx="4325422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Probability Bound: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57949" y="2138673"/>
            <a:ext cx="6610377" cy="11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P(Y &gt; t ∣ X = x) ∈ [0, 1]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7522" y="3236552"/>
            <a:ext cx="4347805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Correlation bound: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57949" y="3908895"/>
            <a:ext cx="6610377" cy="11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−1 ≤ ρ ≤ 1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7522" y="4577079"/>
            <a:ext cx="5070872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Agricultural threshold: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40245" y="5353050"/>
            <a:ext cx="8045785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 = log(0.9 × historical mean rainfall)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66034" y="6252846"/>
            <a:ext cx="17831660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where, Z &gt; t is threshold exceedance event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872" y="7014846"/>
            <a:ext cx="8068746" cy="56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Why are these bounds are necessary.: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7512" y="7809866"/>
            <a:ext cx="7443668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 mathematically invalid forecasts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 stable probability computation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50897" y="79971"/>
            <a:ext cx="10386205" cy="655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801014"/>
                </a:solidFill>
                <a:latin typeface="Arial Bold"/>
                <a:ea typeface="Arial Bold"/>
                <a:cs typeface="Arial Bold"/>
                <a:sym typeface="Arial Bold"/>
              </a:rPr>
              <a:t>Deterministic Approach (Milestone-3)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62025"/>
            <a:ext cx="15483467" cy="8366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2"/>
              </a:lnSpc>
            </a:pPr>
            <a:r>
              <a:rPr lang="en-US" sz="2923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923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 M3, the forecast value is constant for all years.</a:t>
            </a:r>
          </a:p>
          <a:p>
            <a:pPr algn="ctr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= </a:t>
            </a:r>
            <a:r>
              <a:rPr lang="en-US" sz="2923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μY</a:t>
            </a: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(same value every year)</a:t>
            </a:r>
          </a:p>
          <a:p>
            <a:pPr algn="ctr">
              <a:lnSpc>
                <a:spcPts val="4092"/>
              </a:lnSpc>
            </a:pPr>
            <a:endParaRPr lang="en-US" sz="292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No variation in forecast  </a:t>
            </a:r>
          </a:p>
          <a:p>
            <a:pPr algn="l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No relationship with actual rainfall (</a:t>
            </a:r>
            <a:r>
              <a:rPr lang="en-US" sz="2923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ρ</a:t>
            </a: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≈ 0)  </a:t>
            </a:r>
          </a:p>
          <a:p>
            <a:pPr algn="l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Model does not learn from data</a:t>
            </a:r>
          </a:p>
          <a:p>
            <a:pPr algn="l">
              <a:lnSpc>
                <a:spcPts val="4092"/>
              </a:lnSpc>
            </a:pPr>
            <a:endParaRPr lang="en-US" sz="292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conditional mean does not change  </a:t>
            </a:r>
          </a:p>
          <a:p>
            <a:pPr algn="l">
              <a:lnSpc>
                <a:spcPts val="4092"/>
              </a:lnSpc>
            </a:pPr>
            <a:r>
              <a:rPr lang="en-US" sz="2923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Probability remains constant:</a:t>
            </a:r>
          </a:p>
          <a:p>
            <a:pPr algn="ctr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P(Y &gt; t | X) = 0.622</a:t>
            </a:r>
          </a:p>
          <a:p>
            <a:pPr algn="l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Since 0.622 &gt; 0.5 → Always predicts SOW  </a:t>
            </a:r>
          </a:p>
          <a:p>
            <a:pPr algn="l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Same decision for every year</a:t>
            </a:r>
          </a:p>
          <a:p>
            <a:pPr algn="l">
              <a:lnSpc>
                <a:spcPts val="4092"/>
              </a:lnSpc>
            </a:pPr>
            <a:endParaRPr lang="en-US" sz="292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= 68.7% (from dataset)</a:t>
            </a:r>
          </a:p>
          <a:p>
            <a:pPr algn="l">
              <a:lnSpc>
                <a:spcPts val="4092"/>
              </a:lnSpc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this is only base-rate accuracy,</a:t>
            </a:r>
          </a:p>
          <a:p>
            <a:pPr algn="l">
              <a:lnSpc>
                <a:spcPts val="4092"/>
              </a:lnSpc>
              <a:spcBef>
                <a:spcPct val="0"/>
              </a:spcBef>
            </a:pPr>
            <a:r>
              <a:rPr lang="en-US" sz="292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true predictive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2310233" y="1442763"/>
          <a:ext cx="12877062" cy="6429374"/>
        </p:xfrm>
        <a:graphic>
          <a:graphicData uri="http://schemas.openxmlformats.org/drawingml/2006/table">
            <a:tbl>
              <a:tblPr/>
              <a:tblGrid>
                <a:gridCol w="6438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7304">
                <a:tc>
                  <a:txBody>
                    <a:bodyPr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Issue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Impact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4414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Constant prediction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year-wise variation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414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ρ ≈ 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learning from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4414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 probability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Cannot detect drought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4414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Always SOW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Wrong decisions in dry years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4414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Misleading performance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39395" y="320675"/>
            <a:ext cx="10165624" cy="774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801014"/>
                </a:solidFill>
                <a:latin typeface="Arial Bold"/>
                <a:ea typeface="Arial Bold"/>
                <a:cs typeface="Arial Bold"/>
                <a:sym typeface="Arial Bold"/>
              </a:rPr>
              <a:t>Why the Deterministic Model Fails?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5616" y="8007168"/>
            <a:ext cx="15236769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accuracy (68.7%) is misleading — it reflects majority cases, not true prediction ability.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≠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43930" y="2051668"/>
            <a:ext cx="6250062" cy="2672114"/>
            <a:chOff x="0" y="0"/>
            <a:chExt cx="8333415" cy="356281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8333415" cy="1026491"/>
              <a:chOff x="0" y="0"/>
              <a:chExt cx="1646107" cy="20276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646107" cy="202764"/>
              </a:xfrm>
              <a:custGeom>
                <a:avLst/>
                <a:gdLst/>
                <a:ahLst/>
                <a:cxnLst/>
                <a:rect l="l" t="t" r="r" b="b"/>
                <a:pathLst>
                  <a:path w="1646107" h="202764">
                    <a:moveTo>
                      <a:pt x="0" y="0"/>
                    </a:moveTo>
                    <a:lnTo>
                      <a:pt x="1646107" y="0"/>
                    </a:lnTo>
                    <a:lnTo>
                      <a:pt x="1646107" y="202764"/>
                    </a:lnTo>
                    <a:lnTo>
                      <a:pt x="0" y="202764"/>
                    </a:lnTo>
                    <a:close/>
                  </a:path>
                </a:pathLst>
              </a:custGeom>
              <a:solidFill>
                <a:srgbClr val="901317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19050"/>
                <a:ext cx="1646107" cy="2218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19"/>
                  </a:lnSpc>
                </a:pPr>
                <a:r>
                  <a:rPr lang="en-US" sz="3099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Why introduce randomization? 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1026491"/>
              <a:ext cx="8333415" cy="2536327"/>
              <a:chOff x="0" y="0"/>
              <a:chExt cx="1646107" cy="50100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646107" cy="501003"/>
              </a:xfrm>
              <a:custGeom>
                <a:avLst/>
                <a:gdLst/>
                <a:ahLst/>
                <a:cxnLst/>
                <a:rect l="l" t="t" r="r" b="b"/>
                <a:pathLst>
                  <a:path w="1646107" h="501003">
                    <a:moveTo>
                      <a:pt x="2477" y="0"/>
                    </a:moveTo>
                    <a:lnTo>
                      <a:pt x="1643629" y="0"/>
                    </a:lnTo>
                    <a:cubicBezTo>
                      <a:pt x="1644286" y="0"/>
                      <a:pt x="1644916" y="261"/>
                      <a:pt x="1645381" y="726"/>
                    </a:cubicBezTo>
                    <a:cubicBezTo>
                      <a:pt x="1645846" y="1190"/>
                      <a:pt x="1646107" y="1820"/>
                      <a:pt x="1646107" y="2477"/>
                    </a:cubicBezTo>
                    <a:lnTo>
                      <a:pt x="1646107" y="498526"/>
                    </a:lnTo>
                    <a:cubicBezTo>
                      <a:pt x="1646107" y="499894"/>
                      <a:pt x="1644997" y="501003"/>
                      <a:pt x="1643629" y="501003"/>
                    </a:cubicBezTo>
                    <a:lnTo>
                      <a:pt x="2477" y="501003"/>
                    </a:lnTo>
                    <a:cubicBezTo>
                      <a:pt x="1109" y="501003"/>
                      <a:pt x="0" y="499894"/>
                      <a:pt x="0" y="498526"/>
                    </a:cubicBezTo>
                    <a:lnTo>
                      <a:pt x="0" y="2477"/>
                    </a:lnTo>
                    <a:cubicBezTo>
                      <a:pt x="0" y="1109"/>
                      <a:pt x="1109" y="0"/>
                      <a:pt x="2477" y="0"/>
                    </a:cubicBezTo>
                    <a:close/>
                  </a:path>
                </a:pathLst>
              </a:custGeom>
              <a:solidFill>
                <a:srgbClr val="F5F0ED"/>
              </a:solidFill>
              <a:ln w="47625" cap="sq">
                <a:solidFill>
                  <a:srgbClr val="801014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1646107" cy="5105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2759"/>
                  </a:lnSpc>
                </a:pP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The deterministic baseline has: </a:t>
                </a:r>
              </a:p>
              <a:p>
                <a:pPr marL="496567" lvl="1" indent="-248284" algn="l">
                  <a:lnSpc>
                    <a:spcPts val="2759"/>
                  </a:lnSpc>
                  <a:buFont typeface="Arial"/>
                  <a:buChar char="•"/>
                </a:pP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zero or near-zero forecast variation</a:t>
                </a:r>
              </a:p>
              <a:p>
                <a:pPr marL="496567" lvl="1" indent="-248284" algn="l">
                  <a:lnSpc>
                    <a:spcPts val="2759"/>
                  </a:lnSpc>
                  <a:buFont typeface="Arial"/>
                  <a:buChar char="•"/>
                </a:pP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no ranking ability</a:t>
                </a:r>
              </a:p>
              <a:p>
                <a:pPr marL="496567" lvl="1" indent="-248284" algn="l">
                  <a:lnSpc>
                    <a:spcPts val="2759"/>
                  </a:lnSpc>
                  <a:buFont typeface="Arial"/>
                  <a:buChar char="•"/>
                </a:pP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no adaptive decision behavior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543930" y="5143500"/>
            <a:ext cx="6744197" cy="3400013"/>
            <a:chOff x="0" y="0"/>
            <a:chExt cx="8992263" cy="4533351"/>
          </a:xfrm>
        </p:grpSpPr>
        <p:grpSp>
          <p:nvGrpSpPr>
            <p:cNvPr id="18" name="Group 18"/>
            <p:cNvGrpSpPr/>
            <p:nvPr/>
          </p:nvGrpSpPr>
          <p:grpSpPr>
            <a:xfrm>
              <a:off x="10725" y="0"/>
              <a:ext cx="8981538" cy="1656054"/>
              <a:chOff x="0" y="0"/>
              <a:chExt cx="1774131" cy="32712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774131" cy="327122"/>
              </a:xfrm>
              <a:custGeom>
                <a:avLst/>
                <a:gdLst/>
                <a:ahLst/>
                <a:cxnLst/>
                <a:rect l="l" t="t" r="r" b="b"/>
                <a:pathLst>
                  <a:path w="1774131" h="327122">
                    <a:moveTo>
                      <a:pt x="0" y="0"/>
                    </a:moveTo>
                    <a:lnTo>
                      <a:pt x="1774131" y="0"/>
                    </a:lnTo>
                    <a:lnTo>
                      <a:pt x="1774131" y="327122"/>
                    </a:lnTo>
                    <a:lnTo>
                      <a:pt x="0" y="327122"/>
                    </a:lnTo>
                    <a:close/>
                  </a:path>
                </a:pathLst>
              </a:custGeom>
              <a:solidFill>
                <a:srgbClr val="901317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1774131" cy="3461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19"/>
                  </a:lnSpc>
                </a:pPr>
                <a:r>
                  <a:rPr lang="en-US" sz="3099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Why LHS instead of naive random sampling?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1497490"/>
              <a:ext cx="8981538" cy="3035861"/>
              <a:chOff x="0" y="0"/>
              <a:chExt cx="1774131" cy="59967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774131" cy="599676"/>
              </a:xfrm>
              <a:custGeom>
                <a:avLst/>
                <a:gdLst/>
                <a:ahLst/>
                <a:cxnLst/>
                <a:rect l="l" t="t" r="r" b="b"/>
                <a:pathLst>
                  <a:path w="1774131" h="599676">
                    <a:moveTo>
                      <a:pt x="2299" y="0"/>
                    </a:moveTo>
                    <a:lnTo>
                      <a:pt x="1771832" y="0"/>
                    </a:lnTo>
                    <a:cubicBezTo>
                      <a:pt x="1772442" y="0"/>
                      <a:pt x="1773026" y="242"/>
                      <a:pt x="1773458" y="673"/>
                    </a:cubicBezTo>
                    <a:cubicBezTo>
                      <a:pt x="1773889" y="1104"/>
                      <a:pt x="1774131" y="1689"/>
                      <a:pt x="1774131" y="2299"/>
                    </a:cubicBezTo>
                    <a:lnTo>
                      <a:pt x="1774131" y="597378"/>
                    </a:lnTo>
                    <a:cubicBezTo>
                      <a:pt x="1774131" y="597987"/>
                      <a:pt x="1773889" y="598572"/>
                      <a:pt x="1773458" y="599003"/>
                    </a:cubicBezTo>
                    <a:cubicBezTo>
                      <a:pt x="1773026" y="599434"/>
                      <a:pt x="1772442" y="599676"/>
                      <a:pt x="1771832" y="599676"/>
                    </a:cubicBezTo>
                    <a:lnTo>
                      <a:pt x="2299" y="599676"/>
                    </a:lnTo>
                    <a:cubicBezTo>
                      <a:pt x="1689" y="599676"/>
                      <a:pt x="1104" y="599434"/>
                      <a:pt x="673" y="599003"/>
                    </a:cubicBezTo>
                    <a:cubicBezTo>
                      <a:pt x="242" y="598572"/>
                      <a:pt x="0" y="597987"/>
                      <a:pt x="0" y="597378"/>
                    </a:cubicBezTo>
                    <a:lnTo>
                      <a:pt x="0" y="2299"/>
                    </a:lnTo>
                    <a:cubicBezTo>
                      <a:pt x="0" y="1689"/>
                      <a:pt x="242" y="1104"/>
                      <a:pt x="673" y="673"/>
                    </a:cubicBezTo>
                    <a:cubicBezTo>
                      <a:pt x="1104" y="242"/>
                      <a:pt x="1689" y="0"/>
                      <a:pt x="2299" y="0"/>
                    </a:cubicBezTo>
                    <a:close/>
                  </a:path>
                </a:pathLst>
              </a:custGeom>
              <a:solidFill>
                <a:srgbClr val="F5F0ED"/>
              </a:solidFill>
              <a:ln w="47625" cap="sq">
                <a:solidFill>
                  <a:srgbClr val="801014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9525"/>
                <a:ext cx="1774131" cy="6092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496567" lvl="1" indent="-248284" algn="l">
                  <a:lnSpc>
                    <a:spcPts val="2759"/>
                  </a:lnSpc>
                  <a:buFont typeface="Arial"/>
                  <a:buChar char="•"/>
                </a:pP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Better coverage of the full probability space</a:t>
                </a:r>
              </a:p>
              <a:p>
                <a:pPr marL="496567" lvl="1" indent="-248284" algn="l">
                  <a:lnSpc>
                    <a:spcPts val="2759"/>
                  </a:lnSpc>
                  <a:buFont typeface="Arial"/>
                  <a:buChar char="•"/>
                </a:pP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 Fewer clustering issues </a:t>
                </a:r>
              </a:p>
              <a:p>
                <a:pPr marL="496567" lvl="1" indent="-248284" algn="l">
                  <a:lnSpc>
                    <a:spcPts val="2759"/>
                  </a:lnSpc>
                  <a:buFont typeface="Arial"/>
                  <a:buChar char="•"/>
                </a:pP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More stable simulation under limited sample size (115 years)</a:t>
                </a:r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8586851" y="2051668"/>
            <a:ext cx="8672449" cy="6487204"/>
            <a:chOff x="0" y="0"/>
            <a:chExt cx="11563266" cy="8649606"/>
          </a:xfrm>
        </p:grpSpPr>
        <p:grpSp>
          <p:nvGrpSpPr>
            <p:cNvPr id="25" name="Group 25"/>
            <p:cNvGrpSpPr/>
            <p:nvPr/>
          </p:nvGrpSpPr>
          <p:grpSpPr>
            <a:xfrm>
              <a:off x="13792" y="0"/>
              <a:ext cx="11549474" cy="1360419"/>
              <a:chOff x="0" y="0"/>
              <a:chExt cx="1774131" cy="2089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774131" cy="208976"/>
              </a:xfrm>
              <a:custGeom>
                <a:avLst/>
                <a:gdLst/>
                <a:ahLst/>
                <a:cxnLst/>
                <a:rect l="l" t="t" r="r" b="b"/>
                <a:pathLst>
                  <a:path w="1774131" h="208976">
                    <a:moveTo>
                      <a:pt x="0" y="0"/>
                    </a:moveTo>
                    <a:lnTo>
                      <a:pt x="1774131" y="0"/>
                    </a:lnTo>
                    <a:lnTo>
                      <a:pt x="1774131" y="208976"/>
                    </a:lnTo>
                    <a:lnTo>
                      <a:pt x="0" y="208976"/>
                    </a:lnTo>
                    <a:close/>
                  </a:path>
                </a:pathLst>
              </a:custGeom>
              <a:solidFill>
                <a:srgbClr val="901317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19050"/>
                <a:ext cx="1774131" cy="228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19"/>
                  </a:lnSpc>
                </a:pPr>
                <a:r>
                  <a:rPr lang="en-US" sz="3099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Randomized forecast generation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1360419"/>
              <a:ext cx="11549474" cy="7289187"/>
              <a:chOff x="0" y="0"/>
              <a:chExt cx="1774131" cy="111970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774131" cy="1119702"/>
              </a:xfrm>
              <a:custGeom>
                <a:avLst/>
                <a:gdLst/>
                <a:ahLst/>
                <a:cxnLst/>
                <a:rect l="l" t="t" r="r" b="b"/>
                <a:pathLst>
                  <a:path w="1774131" h="1119702">
                    <a:moveTo>
                      <a:pt x="2299" y="0"/>
                    </a:moveTo>
                    <a:lnTo>
                      <a:pt x="1771832" y="0"/>
                    </a:lnTo>
                    <a:cubicBezTo>
                      <a:pt x="1772442" y="0"/>
                      <a:pt x="1773026" y="242"/>
                      <a:pt x="1773458" y="673"/>
                    </a:cubicBezTo>
                    <a:cubicBezTo>
                      <a:pt x="1773889" y="1104"/>
                      <a:pt x="1774131" y="1689"/>
                      <a:pt x="1774131" y="2299"/>
                    </a:cubicBezTo>
                    <a:lnTo>
                      <a:pt x="1774131" y="1117404"/>
                    </a:lnTo>
                    <a:cubicBezTo>
                      <a:pt x="1774131" y="1118013"/>
                      <a:pt x="1773889" y="1118598"/>
                      <a:pt x="1773458" y="1119029"/>
                    </a:cubicBezTo>
                    <a:cubicBezTo>
                      <a:pt x="1773026" y="1119460"/>
                      <a:pt x="1772442" y="1119702"/>
                      <a:pt x="1771832" y="1119702"/>
                    </a:cubicBezTo>
                    <a:lnTo>
                      <a:pt x="2299" y="1119702"/>
                    </a:lnTo>
                    <a:cubicBezTo>
                      <a:pt x="1689" y="1119702"/>
                      <a:pt x="1104" y="1119460"/>
                      <a:pt x="673" y="1119029"/>
                    </a:cubicBezTo>
                    <a:cubicBezTo>
                      <a:pt x="242" y="1118598"/>
                      <a:pt x="0" y="1118013"/>
                      <a:pt x="0" y="1117404"/>
                    </a:cubicBezTo>
                    <a:lnTo>
                      <a:pt x="0" y="2299"/>
                    </a:lnTo>
                    <a:cubicBezTo>
                      <a:pt x="0" y="1689"/>
                      <a:pt x="242" y="1104"/>
                      <a:pt x="673" y="673"/>
                    </a:cubicBezTo>
                    <a:cubicBezTo>
                      <a:pt x="1104" y="242"/>
                      <a:pt x="1689" y="0"/>
                      <a:pt x="2299" y="0"/>
                    </a:cubicBezTo>
                    <a:close/>
                  </a:path>
                </a:pathLst>
              </a:custGeom>
              <a:solidFill>
                <a:srgbClr val="F5F0ED"/>
              </a:solidFill>
              <a:ln w="47625" cap="sq">
                <a:solidFill>
                  <a:srgbClr val="801014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9525"/>
                <a:ext cx="1774131" cy="1129227"/>
              </a:xfrm>
              <a:prstGeom prst="rect">
                <a:avLst/>
              </a:prstGeom>
            </p:spPr>
            <p:txBody>
              <a:bodyPr lIns="50800" tIns="50800" rIns="50800" bIns="50800" rtlCol="0" anchor="t"/>
              <a:lstStyle/>
              <a:p>
                <a:pPr algn="l">
                  <a:lnSpc>
                    <a:spcPts val="2759"/>
                  </a:lnSpc>
                </a:pPr>
                <a:r>
                  <a:rPr lang="en-US" sz="2299">
                    <a:solidFill>
                      <a:srgbClr val="7D1916"/>
                    </a:solidFill>
                    <a:latin typeface="Helvetica World"/>
                    <a:ea typeface="Helvetica World"/>
                    <a:cs typeface="Helvetica World"/>
                    <a:sym typeface="Helvetica World"/>
                  </a:rPr>
                  <a:t>We replace constant </a:t>
                </a: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X</a:t>
                </a:r>
                <a:r>
                  <a:rPr lang="en-US" sz="2299">
                    <a:solidFill>
                      <a:srgbClr val="7D1916"/>
                    </a:solidFill>
                    <a:latin typeface="Helvetica World"/>
                    <a:ea typeface="Helvetica World"/>
                    <a:cs typeface="Helvetica World"/>
                    <a:sym typeface="Helvetica World"/>
                  </a:rPr>
                  <a:t> with a variable forecast using </a:t>
                </a: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Latin Hypercube Sampling (LHS).</a:t>
                </a:r>
              </a:p>
              <a:p>
                <a:pPr algn="l">
                  <a:lnSpc>
                    <a:spcPts val="2759"/>
                  </a:lnSpc>
                </a:pPr>
                <a:r>
                  <a:rPr lang="en-US" sz="2299" b="1">
                    <a:solidFill>
                      <a:srgbClr val="7D1916"/>
                    </a:solidFill>
                    <a:latin typeface="Helvetica World Bold"/>
                    <a:ea typeface="Helvetica World Bold"/>
                    <a:cs typeface="Helvetica World Bold"/>
                    <a:sym typeface="Helvetica World Bold"/>
                  </a:rPr>
                  <a:t>Method:</a:t>
                </a:r>
              </a:p>
              <a:p>
                <a:pPr marL="496569" lvl="1" indent="-248284" algn="l">
                  <a:lnSpc>
                    <a:spcPts val="2759"/>
                  </a:lnSpc>
                  <a:buAutoNum type="arabicPeriod"/>
                </a:pPr>
                <a:r>
                  <a:rPr lang="en-US" sz="2299">
                    <a:solidFill>
                      <a:srgbClr val="7D1916"/>
                    </a:solidFill>
                    <a:latin typeface="Helvetica World"/>
                    <a:ea typeface="Helvetica World"/>
                    <a:cs typeface="Helvetica World"/>
                    <a:sym typeface="Helvetica World"/>
                  </a:rPr>
                  <a:t>Generate stratified uniform samples using LHS</a:t>
                </a:r>
              </a:p>
              <a:p>
                <a:pPr marL="496569" lvl="1" indent="-248284" algn="l">
                  <a:lnSpc>
                    <a:spcPts val="2759"/>
                  </a:lnSpc>
                  <a:buAutoNum type="arabicPeriod"/>
                </a:pPr>
                <a:r>
                  <a:rPr lang="en-US" sz="2299">
                    <a:solidFill>
                      <a:srgbClr val="7D1916"/>
                    </a:solidFill>
                    <a:latin typeface="Helvetica World"/>
                    <a:ea typeface="Helvetica World"/>
                    <a:cs typeface="Helvetica World"/>
                    <a:sym typeface="Helvetica World"/>
                  </a:rPr>
                  <a:t>Transform to normal samples using inverse CDF:</a:t>
                </a:r>
              </a:p>
              <a:p>
                <a:pPr algn="r">
                  <a:lnSpc>
                    <a:spcPts val="2759"/>
                  </a:lnSpc>
                </a:pPr>
                <a:endParaRPr lang="en-US" sz="2299">
                  <a:solidFill>
                    <a:srgbClr val="7D1916"/>
                  </a:solidFill>
                  <a:latin typeface="Helvetica World"/>
                  <a:ea typeface="Helvetica World"/>
                  <a:cs typeface="Helvetica World"/>
                  <a:sym typeface="Helvetica World"/>
                </a:endParaRPr>
              </a:p>
              <a:p>
                <a:pPr algn="just">
                  <a:lnSpc>
                    <a:spcPts val="2759"/>
                  </a:lnSpc>
                </a:pPr>
                <a:endParaRPr lang="en-US" sz="2299">
                  <a:solidFill>
                    <a:srgbClr val="7D1916"/>
                  </a:solidFill>
                  <a:latin typeface="Helvetica World"/>
                  <a:ea typeface="Helvetica World"/>
                  <a:cs typeface="Helvetica World"/>
                  <a:sym typeface="Helvetica World"/>
                </a:endParaRPr>
              </a:p>
              <a:p>
                <a:pPr marL="496569" lvl="1" indent="-248284" algn="l">
                  <a:lnSpc>
                    <a:spcPts val="2759"/>
                  </a:lnSpc>
                  <a:buAutoNum type="arabicPeriod"/>
                </a:pPr>
                <a:r>
                  <a:rPr lang="en-US" sz="2299">
                    <a:solidFill>
                      <a:srgbClr val="7D1916"/>
                    </a:solidFill>
                    <a:latin typeface="Helvetica World"/>
                    <a:ea typeface="Helvetica World"/>
                    <a:cs typeface="Helvetica World"/>
                    <a:sym typeface="Helvetica World"/>
                  </a:rPr>
                  <a:t>Blend with observed structure to create controlled skill:</a:t>
                </a:r>
              </a:p>
              <a:p>
                <a:pPr algn="l">
                  <a:lnSpc>
                    <a:spcPts val="2759"/>
                  </a:lnSpc>
                </a:pPr>
                <a:endParaRPr lang="en-US" sz="2299">
                  <a:solidFill>
                    <a:srgbClr val="7D1916"/>
                  </a:solidFill>
                  <a:latin typeface="Helvetica World"/>
                  <a:ea typeface="Helvetica World"/>
                  <a:cs typeface="Helvetica World"/>
                  <a:sym typeface="Helvetica World"/>
                </a:endParaRPr>
              </a:p>
              <a:p>
                <a:pPr algn="l">
                  <a:lnSpc>
                    <a:spcPts val="2759"/>
                  </a:lnSpc>
                </a:pPr>
                <a:endParaRPr lang="en-US" sz="2299">
                  <a:solidFill>
                    <a:srgbClr val="7D1916"/>
                  </a:solidFill>
                  <a:latin typeface="Helvetica World"/>
                  <a:ea typeface="Helvetica World"/>
                  <a:cs typeface="Helvetica World"/>
                  <a:sym typeface="Helvetica World"/>
                </a:endParaRPr>
              </a:p>
              <a:p>
                <a:pPr algn="l">
                  <a:lnSpc>
                    <a:spcPts val="2759"/>
                  </a:lnSpc>
                </a:pPr>
                <a:endParaRPr lang="en-US" sz="2299">
                  <a:solidFill>
                    <a:srgbClr val="7D1916"/>
                  </a:solidFill>
                  <a:latin typeface="Helvetica World"/>
                  <a:ea typeface="Helvetica World"/>
                  <a:cs typeface="Helvetica World"/>
                  <a:sym typeface="Helvetica World"/>
                </a:endParaRPr>
              </a:p>
            </p:txBody>
          </p:sp>
        </p:grpSp>
      </p:grpSp>
      <p:sp>
        <p:nvSpPr>
          <p:cNvPr id="31" name="Freeform 31"/>
          <p:cNvSpPr/>
          <p:nvPr/>
        </p:nvSpPr>
        <p:spPr>
          <a:xfrm>
            <a:off x="10285463" y="5143500"/>
            <a:ext cx="3072642" cy="525959"/>
          </a:xfrm>
          <a:custGeom>
            <a:avLst/>
            <a:gdLst/>
            <a:ahLst/>
            <a:cxnLst/>
            <a:rect l="l" t="t" r="r" b="b"/>
            <a:pathLst>
              <a:path w="3072642" h="525959">
                <a:moveTo>
                  <a:pt x="0" y="0"/>
                </a:moveTo>
                <a:lnTo>
                  <a:pt x="3072643" y="0"/>
                </a:lnTo>
                <a:lnTo>
                  <a:pt x="3072643" y="525959"/>
                </a:lnTo>
                <a:lnTo>
                  <a:pt x="0" y="5259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2565" b="-19058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1029322" y="6275381"/>
            <a:ext cx="3787506" cy="568126"/>
          </a:xfrm>
          <a:custGeom>
            <a:avLst/>
            <a:gdLst/>
            <a:ahLst/>
            <a:cxnLst/>
            <a:rect l="l" t="t" r="r" b="b"/>
            <a:pathLst>
              <a:path w="3787506" h="568126">
                <a:moveTo>
                  <a:pt x="0" y="0"/>
                </a:moveTo>
                <a:lnTo>
                  <a:pt x="3787506" y="0"/>
                </a:lnTo>
                <a:lnTo>
                  <a:pt x="3787506" y="568126"/>
                </a:lnTo>
                <a:lnTo>
                  <a:pt x="0" y="5681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1554302" y="7169050"/>
            <a:ext cx="2737548" cy="429419"/>
          </a:xfrm>
          <a:custGeom>
            <a:avLst/>
            <a:gdLst/>
            <a:ahLst/>
            <a:cxnLst/>
            <a:rect l="l" t="t" r="r" b="b"/>
            <a:pathLst>
              <a:path w="2737548" h="429419">
                <a:moveTo>
                  <a:pt x="0" y="0"/>
                </a:moveTo>
                <a:lnTo>
                  <a:pt x="2737547" y="0"/>
                </a:lnTo>
                <a:lnTo>
                  <a:pt x="2737547" y="429419"/>
                </a:lnTo>
                <a:lnTo>
                  <a:pt x="0" y="4294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43930" y="258908"/>
            <a:ext cx="7199974" cy="75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>
                <a:solidFill>
                  <a:srgbClr val="801014"/>
                </a:solidFill>
                <a:latin typeface="Arial Bold"/>
                <a:ea typeface="Arial Bold"/>
                <a:cs typeface="Arial Bold"/>
                <a:sym typeface="Arial Bold"/>
              </a:rPr>
              <a:t>Randomized Approach (M4)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43930" y="1197593"/>
            <a:ext cx="914826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01014"/>
                </a:solidFill>
                <a:latin typeface="Arial"/>
                <a:ea typeface="Arial"/>
                <a:cs typeface="Arial"/>
                <a:sym typeface="Arial"/>
              </a:rPr>
              <a:t>Controlled randomness with Latin Hypercube Sampling for improved forecast skill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3930" y="641350"/>
            <a:ext cx="11608891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Why the Randomized Approach Performs Better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38409" y="1842808"/>
            <a:ext cx="6503415" cy="6771306"/>
            <a:chOff x="0" y="0"/>
            <a:chExt cx="8671220" cy="902840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8671220" cy="9028407"/>
              <a:chOff x="0" y="0"/>
              <a:chExt cx="2529930" cy="263414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529930" cy="2634144"/>
              </a:xfrm>
              <a:custGeom>
                <a:avLst/>
                <a:gdLst/>
                <a:ahLst/>
                <a:cxnLst/>
                <a:rect l="l" t="t" r="r" b="b"/>
                <a:pathLst>
                  <a:path w="2529930" h="2634144">
                    <a:moveTo>
                      <a:pt x="0" y="0"/>
                    </a:moveTo>
                    <a:lnTo>
                      <a:pt x="2529930" y="0"/>
                    </a:lnTo>
                    <a:lnTo>
                      <a:pt x="2529930" y="2634144"/>
                    </a:lnTo>
                    <a:lnTo>
                      <a:pt x="0" y="2634144"/>
                    </a:lnTo>
                    <a:close/>
                  </a:path>
                </a:pathLst>
              </a:custGeom>
              <a:solidFill>
                <a:srgbClr val="7D1916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9525"/>
                <a:ext cx="2529930" cy="2643669"/>
              </a:xfrm>
              <a:prstGeom prst="rect">
                <a:avLst/>
              </a:prstGeom>
            </p:spPr>
            <p:txBody>
              <a:bodyPr lIns="59722" tIns="59722" rIns="59722" bIns="59722" rtlCol="0" anchor="ctr"/>
              <a:lstStyle/>
              <a:p>
                <a:pPr algn="l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54068" y="188922"/>
              <a:ext cx="7763085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F2F1E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Mathematical changes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689" y="1982451"/>
              <a:ext cx="7947842" cy="53620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3"/>
                </a:lnSpc>
              </a:pPr>
              <a:r>
                <a:rPr lang="en-US" sz="30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With ρ &gt; 0:</a:t>
              </a:r>
            </a:p>
            <a:p>
              <a:pPr algn="l">
                <a:lnSpc>
                  <a:spcPts val="3833"/>
                </a:lnSpc>
              </a:pPr>
              <a:r>
                <a:rPr lang="en-US" sz="30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X now varies by year </a:t>
              </a:r>
            </a:p>
            <a:p>
              <a:pPr algn="l">
                <a:lnSpc>
                  <a:spcPts val="3833"/>
                </a:lnSpc>
              </a:pPr>
              <a:r>
                <a:rPr lang="en-US" sz="30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</a:p>
            <a:p>
              <a:pPr algn="l">
                <a:lnSpc>
                  <a:spcPts val="4375"/>
                </a:lnSpc>
              </a:pPr>
              <a:r>
                <a:rPr lang="en-US" sz="35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μY|x shifts up/down depending on forecast  </a:t>
              </a:r>
            </a:p>
            <a:p>
              <a:pPr algn="l">
                <a:lnSpc>
                  <a:spcPts val="3833"/>
                </a:lnSpc>
              </a:pPr>
              <a:endPara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  <a:p>
              <a:pPr algn="l">
                <a:lnSpc>
                  <a:spcPts val="3833"/>
                </a:lnSpc>
              </a:pPr>
              <a:r>
                <a:rPr lang="en-US" sz="30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• P(Y &gt; t | X = x) varies year by year</a:t>
              </a: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94334" y="1367984"/>
              <a:ext cx="7055106" cy="0"/>
            </a:xfrm>
            <a:prstGeom prst="line">
              <a:avLst/>
            </a:prstGeom>
            <a:ln w="29255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828661" y="1842808"/>
            <a:ext cx="8430639" cy="6675173"/>
            <a:chOff x="0" y="0"/>
            <a:chExt cx="11240852" cy="8900231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1240852" cy="8900231"/>
              <a:chOff x="0" y="0"/>
              <a:chExt cx="1790593" cy="141774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790593" cy="1417748"/>
              </a:xfrm>
              <a:custGeom>
                <a:avLst/>
                <a:gdLst/>
                <a:ahLst/>
                <a:cxnLst/>
                <a:rect l="l" t="t" r="r" b="b"/>
                <a:pathLst>
                  <a:path w="1790593" h="1417748">
                    <a:moveTo>
                      <a:pt x="0" y="0"/>
                    </a:moveTo>
                    <a:lnTo>
                      <a:pt x="1790593" y="0"/>
                    </a:lnTo>
                    <a:lnTo>
                      <a:pt x="1790593" y="1417748"/>
                    </a:lnTo>
                    <a:lnTo>
                      <a:pt x="0" y="1417748"/>
                    </a:lnTo>
                    <a:close/>
                  </a:path>
                </a:pathLst>
              </a:custGeom>
              <a:solidFill>
                <a:srgbClr val="801014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9525"/>
                <a:ext cx="1790593" cy="14272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481195"/>
              <a:ext cx="11240852" cy="1085507"/>
              <a:chOff x="0" y="0"/>
              <a:chExt cx="1790593" cy="17291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790593" cy="172914"/>
              </a:xfrm>
              <a:custGeom>
                <a:avLst/>
                <a:gdLst/>
                <a:ahLst/>
                <a:cxnLst/>
                <a:rect l="l" t="t" r="r" b="b"/>
                <a:pathLst>
                  <a:path w="1790593" h="172914">
                    <a:moveTo>
                      <a:pt x="0" y="0"/>
                    </a:moveTo>
                    <a:lnTo>
                      <a:pt x="1790593" y="0"/>
                    </a:lnTo>
                    <a:lnTo>
                      <a:pt x="1790593" y="172914"/>
                    </a:lnTo>
                    <a:lnTo>
                      <a:pt x="0" y="172914"/>
                    </a:lnTo>
                    <a:close/>
                  </a:path>
                </a:pathLst>
              </a:custGeom>
              <a:solidFill>
                <a:srgbClr val="F5F0ED"/>
              </a:solidFill>
              <a:ln w="38100" cap="sq">
                <a:solidFill>
                  <a:srgbClr val="7D1916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9525"/>
                <a:ext cx="1790593" cy="1824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748428" y="613315"/>
              <a:ext cx="7743996" cy="764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7D1916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Why this is better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240932" y="3270710"/>
            <a:ext cx="7271235" cy="486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3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5F0ED"/>
                </a:solidFill>
                <a:latin typeface="Canva Sans"/>
                <a:ea typeface="Canva Sans"/>
                <a:cs typeface="Canva Sans"/>
                <a:sym typeface="Canva Sans"/>
              </a:rPr>
              <a:t>Detects drought-risk years</a:t>
            </a:r>
          </a:p>
          <a:p>
            <a:pPr algn="l">
              <a:lnSpc>
                <a:spcPts val="4340"/>
              </a:lnSpc>
            </a:pPr>
            <a:endParaRPr lang="en-US" sz="3100">
              <a:solidFill>
                <a:srgbClr val="F5F0E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69293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5F0ED"/>
                </a:solidFill>
                <a:latin typeface="Canva Sans"/>
                <a:ea typeface="Canva Sans"/>
                <a:cs typeface="Canva Sans"/>
                <a:sym typeface="Canva Sans"/>
              </a:rPr>
              <a:t> Reduces false confidence</a:t>
            </a:r>
          </a:p>
          <a:p>
            <a:pPr algn="l">
              <a:lnSpc>
                <a:spcPts val="4340"/>
              </a:lnSpc>
            </a:pPr>
            <a:endParaRPr lang="en-US" sz="3100">
              <a:solidFill>
                <a:srgbClr val="F5F0E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69293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5F0ED"/>
                </a:solidFill>
                <a:latin typeface="Canva Sans"/>
                <a:ea typeface="Canva Sans"/>
                <a:cs typeface="Canva Sans"/>
                <a:sym typeface="Canva Sans"/>
              </a:rPr>
              <a:t>Improves discrimination</a:t>
            </a:r>
          </a:p>
          <a:p>
            <a:pPr algn="l">
              <a:lnSpc>
                <a:spcPts val="4340"/>
              </a:lnSpc>
            </a:pPr>
            <a:endParaRPr lang="en-US" sz="3100">
              <a:solidFill>
                <a:srgbClr val="F5F0E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69293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5F0ED"/>
                </a:solidFill>
                <a:latin typeface="Canva Sans"/>
                <a:ea typeface="Canva Sans"/>
                <a:cs typeface="Canva Sans"/>
                <a:sym typeface="Canva Sans"/>
              </a:rPr>
              <a:t>Produces more realistic</a:t>
            </a:r>
          </a:p>
          <a:p>
            <a:pPr algn="l">
              <a:lnSpc>
                <a:spcPts val="4340"/>
              </a:lnSpc>
            </a:pPr>
            <a:endParaRPr lang="en-US" sz="3100">
              <a:solidFill>
                <a:srgbClr val="F5F0E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69293" lvl="1" indent="-334646" algn="l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5F0ED"/>
                </a:solidFill>
                <a:latin typeface="Canva Sans"/>
                <a:ea typeface="Canva Sans"/>
                <a:cs typeface="Canva Sans"/>
                <a:sym typeface="Canva Sans"/>
              </a:rPr>
              <a:t>uncertainty-aware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9144000" y="1919414"/>
            <a:ext cx="6550788" cy="3294719"/>
          </a:xfrm>
          <a:custGeom>
            <a:avLst/>
            <a:gdLst/>
            <a:ahLst/>
            <a:cxnLst/>
            <a:rect l="l" t="t" r="r" b="b"/>
            <a:pathLst>
              <a:path w="6550788" h="3294719">
                <a:moveTo>
                  <a:pt x="0" y="0"/>
                </a:moveTo>
                <a:lnTo>
                  <a:pt x="6550788" y="0"/>
                </a:lnTo>
                <a:lnTo>
                  <a:pt x="6550788" y="3294719"/>
                </a:lnTo>
                <a:lnTo>
                  <a:pt x="0" y="32947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16" b="-81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46813" y="50800"/>
            <a:ext cx="499437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Coding &amp; Simulation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1093766"/>
            <a:ext cx="4128393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details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310233" y="1169966"/>
            <a:ext cx="5361418" cy="8088334"/>
            <a:chOff x="0" y="0"/>
            <a:chExt cx="7148557" cy="10784445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148557" cy="782442"/>
              <a:chOff x="0" y="0"/>
              <a:chExt cx="1412061" cy="15455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12061" cy="154556"/>
              </a:xfrm>
              <a:custGeom>
                <a:avLst/>
                <a:gdLst/>
                <a:ahLst/>
                <a:cxnLst/>
                <a:rect l="l" t="t" r="r" b="b"/>
                <a:pathLst>
                  <a:path w="1412061" h="154556">
                    <a:moveTo>
                      <a:pt x="72200" y="0"/>
                    </a:moveTo>
                    <a:lnTo>
                      <a:pt x="1339860" y="0"/>
                    </a:lnTo>
                    <a:cubicBezTo>
                      <a:pt x="1359009" y="0"/>
                      <a:pt x="1377373" y="7607"/>
                      <a:pt x="1390914" y="21147"/>
                    </a:cubicBezTo>
                    <a:cubicBezTo>
                      <a:pt x="1404454" y="34687"/>
                      <a:pt x="1412061" y="53052"/>
                      <a:pt x="1412061" y="72200"/>
                    </a:cubicBezTo>
                    <a:lnTo>
                      <a:pt x="1412061" y="82356"/>
                    </a:lnTo>
                    <a:cubicBezTo>
                      <a:pt x="1412061" y="122231"/>
                      <a:pt x="1379735" y="154556"/>
                      <a:pt x="1339860" y="154556"/>
                    </a:cubicBezTo>
                    <a:lnTo>
                      <a:pt x="72200" y="154556"/>
                    </a:lnTo>
                    <a:cubicBezTo>
                      <a:pt x="53052" y="154556"/>
                      <a:pt x="34687" y="146950"/>
                      <a:pt x="21147" y="133409"/>
                    </a:cubicBezTo>
                    <a:cubicBezTo>
                      <a:pt x="7607" y="119869"/>
                      <a:pt x="0" y="101505"/>
                      <a:pt x="0" y="82356"/>
                    </a:cubicBezTo>
                    <a:lnTo>
                      <a:pt x="0" y="72200"/>
                    </a:lnTo>
                    <a:cubicBezTo>
                      <a:pt x="0" y="53052"/>
                      <a:pt x="7607" y="34687"/>
                      <a:pt x="21147" y="21147"/>
                    </a:cubicBezTo>
                    <a:cubicBezTo>
                      <a:pt x="34687" y="7607"/>
                      <a:pt x="53052" y="0"/>
                      <a:pt x="72200" y="0"/>
                    </a:cubicBezTo>
                    <a:close/>
                  </a:path>
                </a:pathLst>
              </a:custGeom>
              <a:solidFill>
                <a:srgbClr val="7D1916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1412061" cy="2117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5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CSV Data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1392042"/>
              <a:ext cx="7148557" cy="861701"/>
              <a:chOff x="0" y="0"/>
              <a:chExt cx="1412061" cy="1702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12061" cy="170213"/>
              </a:xfrm>
              <a:custGeom>
                <a:avLst/>
                <a:gdLst/>
                <a:ahLst/>
                <a:cxnLst/>
                <a:rect l="l" t="t" r="r" b="b"/>
                <a:pathLst>
                  <a:path w="1412061" h="170213">
                    <a:moveTo>
                      <a:pt x="72200" y="0"/>
                    </a:moveTo>
                    <a:lnTo>
                      <a:pt x="1339860" y="0"/>
                    </a:lnTo>
                    <a:cubicBezTo>
                      <a:pt x="1359009" y="0"/>
                      <a:pt x="1377373" y="7607"/>
                      <a:pt x="1390914" y="21147"/>
                    </a:cubicBezTo>
                    <a:cubicBezTo>
                      <a:pt x="1404454" y="34687"/>
                      <a:pt x="1412061" y="53052"/>
                      <a:pt x="1412061" y="72200"/>
                    </a:cubicBezTo>
                    <a:lnTo>
                      <a:pt x="1412061" y="98012"/>
                    </a:lnTo>
                    <a:cubicBezTo>
                      <a:pt x="1412061" y="117161"/>
                      <a:pt x="1404454" y="135525"/>
                      <a:pt x="1390914" y="149066"/>
                    </a:cubicBezTo>
                    <a:cubicBezTo>
                      <a:pt x="1377373" y="162606"/>
                      <a:pt x="1359009" y="170213"/>
                      <a:pt x="1339860" y="170213"/>
                    </a:cubicBezTo>
                    <a:lnTo>
                      <a:pt x="72200" y="170213"/>
                    </a:lnTo>
                    <a:cubicBezTo>
                      <a:pt x="53052" y="170213"/>
                      <a:pt x="34687" y="162606"/>
                      <a:pt x="21147" y="149066"/>
                    </a:cubicBezTo>
                    <a:cubicBezTo>
                      <a:pt x="7607" y="135525"/>
                      <a:pt x="0" y="117161"/>
                      <a:pt x="0" y="98012"/>
                    </a:cubicBezTo>
                    <a:lnTo>
                      <a:pt x="0" y="72200"/>
                    </a:lnTo>
                    <a:cubicBezTo>
                      <a:pt x="0" y="53052"/>
                      <a:pt x="7607" y="34687"/>
                      <a:pt x="21147" y="21147"/>
                    </a:cubicBezTo>
                    <a:cubicBezTo>
                      <a:pt x="34687" y="7607"/>
                      <a:pt x="53052" y="0"/>
                      <a:pt x="72200" y="0"/>
                    </a:cubicBezTo>
                    <a:close/>
                  </a:path>
                </a:pathLst>
              </a:custGeom>
              <a:solidFill>
                <a:srgbClr val="7D1916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1412061" cy="2273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5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Filter Gujarat data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863343"/>
              <a:ext cx="7148557" cy="946013"/>
              <a:chOff x="0" y="0"/>
              <a:chExt cx="1412061" cy="18686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412061" cy="186867"/>
              </a:xfrm>
              <a:custGeom>
                <a:avLst/>
                <a:gdLst/>
                <a:ahLst/>
                <a:cxnLst/>
                <a:rect l="l" t="t" r="r" b="b"/>
                <a:pathLst>
                  <a:path w="1412061" h="186867">
                    <a:moveTo>
                      <a:pt x="72200" y="0"/>
                    </a:moveTo>
                    <a:lnTo>
                      <a:pt x="1339860" y="0"/>
                    </a:lnTo>
                    <a:cubicBezTo>
                      <a:pt x="1359009" y="0"/>
                      <a:pt x="1377373" y="7607"/>
                      <a:pt x="1390914" y="21147"/>
                    </a:cubicBezTo>
                    <a:cubicBezTo>
                      <a:pt x="1404454" y="34687"/>
                      <a:pt x="1412061" y="53052"/>
                      <a:pt x="1412061" y="72200"/>
                    </a:cubicBezTo>
                    <a:lnTo>
                      <a:pt x="1412061" y="114666"/>
                    </a:lnTo>
                    <a:cubicBezTo>
                      <a:pt x="1412061" y="133815"/>
                      <a:pt x="1404454" y="152180"/>
                      <a:pt x="1390914" y="165720"/>
                    </a:cubicBezTo>
                    <a:cubicBezTo>
                      <a:pt x="1377373" y="179260"/>
                      <a:pt x="1359009" y="186867"/>
                      <a:pt x="1339860" y="186867"/>
                    </a:cubicBezTo>
                    <a:lnTo>
                      <a:pt x="72200" y="186867"/>
                    </a:lnTo>
                    <a:cubicBezTo>
                      <a:pt x="53052" y="186867"/>
                      <a:pt x="34687" y="179260"/>
                      <a:pt x="21147" y="165720"/>
                    </a:cubicBezTo>
                    <a:cubicBezTo>
                      <a:pt x="7607" y="152180"/>
                      <a:pt x="0" y="133815"/>
                      <a:pt x="0" y="114666"/>
                    </a:cubicBezTo>
                    <a:lnTo>
                      <a:pt x="0" y="72200"/>
                    </a:lnTo>
                    <a:cubicBezTo>
                      <a:pt x="0" y="53052"/>
                      <a:pt x="7607" y="34687"/>
                      <a:pt x="21147" y="21147"/>
                    </a:cubicBezTo>
                    <a:cubicBezTo>
                      <a:pt x="34687" y="7607"/>
                      <a:pt x="53052" y="0"/>
                      <a:pt x="72200" y="0"/>
                    </a:cubicBezTo>
                    <a:close/>
                  </a:path>
                </a:pathLst>
              </a:custGeom>
              <a:solidFill>
                <a:srgbClr val="7D1916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57150"/>
                <a:ext cx="1412061" cy="2440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5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Log Transform → Estimate μ, 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4418956"/>
              <a:ext cx="7148557" cy="1166501"/>
              <a:chOff x="0" y="0"/>
              <a:chExt cx="1412061" cy="23042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412061" cy="230420"/>
              </a:xfrm>
              <a:custGeom>
                <a:avLst/>
                <a:gdLst/>
                <a:ahLst/>
                <a:cxnLst/>
                <a:rect l="l" t="t" r="r" b="b"/>
                <a:pathLst>
                  <a:path w="1412061" h="230420">
                    <a:moveTo>
                      <a:pt x="72200" y="0"/>
                    </a:moveTo>
                    <a:lnTo>
                      <a:pt x="1339860" y="0"/>
                    </a:lnTo>
                    <a:cubicBezTo>
                      <a:pt x="1359009" y="0"/>
                      <a:pt x="1377373" y="7607"/>
                      <a:pt x="1390914" y="21147"/>
                    </a:cubicBezTo>
                    <a:cubicBezTo>
                      <a:pt x="1404454" y="34687"/>
                      <a:pt x="1412061" y="53052"/>
                      <a:pt x="1412061" y="72200"/>
                    </a:cubicBezTo>
                    <a:lnTo>
                      <a:pt x="1412061" y="158220"/>
                    </a:lnTo>
                    <a:cubicBezTo>
                      <a:pt x="1412061" y="198095"/>
                      <a:pt x="1379735" y="230420"/>
                      <a:pt x="1339860" y="230420"/>
                    </a:cubicBezTo>
                    <a:lnTo>
                      <a:pt x="72200" y="230420"/>
                    </a:lnTo>
                    <a:cubicBezTo>
                      <a:pt x="53052" y="230420"/>
                      <a:pt x="34687" y="222813"/>
                      <a:pt x="21147" y="209273"/>
                    </a:cubicBezTo>
                    <a:cubicBezTo>
                      <a:pt x="7607" y="195733"/>
                      <a:pt x="0" y="177368"/>
                      <a:pt x="0" y="158220"/>
                    </a:cubicBezTo>
                    <a:lnTo>
                      <a:pt x="0" y="72200"/>
                    </a:lnTo>
                    <a:cubicBezTo>
                      <a:pt x="0" y="53052"/>
                      <a:pt x="7607" y="34687"/>
                      <a:pt x="21147" y="21147"/>
                    </a:cubicBezTo>
                    <a:cubicBezTo>
                      <a:pt x="34687" y="7607"/>
                      <a:pt x="53052" y="0"/>
                      <a:pt x="72200" y="0"/>
                    </a:cubicBezTo>
                    <a:close/>
                  </a:path>
                </a:pathLst>
              </a:custGeom>
              <a:solidFill>
                <a:srgbClr val="7D1916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57150"/>
                <a:ext cx="1412061" cy="287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5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M3 Baseline / M4 LHS Sampling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6195057"/>
              <a:ext cx="7148557" cy="1166501"/>
              <a:chOff x="0" y="0"/>
              <a:chExt cx="1412061" cy="23042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412061" cy="230420"/>
              </a:xfrm>
              <a:custGeom>
                <a:avLst/>
                <a:gdLst/>
                <a:ahLst/>
                <a:cxnLst/>
                <a:rect l="l" t="t" r="r" b="b"/>
                <a:pathLst>
                  <a:path w="1412061" h="230420">
                    <a:moveTo>
                      <a:pt x="72200" y="0"/>
                    </a:moveTo>
                    <a:lnTo>
                      <a:pt x="1339860" y="0"/>
                    </a:lnTo>
                    <a:cubicBezTo>
                      <a:pt x="1359009" y="0"/>
                      <a:pt x="1377373" y="7607"/>
                      <a:pt x="1390914" y="21147"/>
                    </a:cubicBezTo>
                    <a:cubicBezTo>
                      <a:pt x="1404454" y="34687"/>
                      <a:pt x="1412061" y="53052"/>
                      <a:pt x="1412061" y="72200"/>
                    </a:cubicBezTo>
                    <a:lnTo>
                      <a:pt x="1412061" y="158220"/>
                    </a:lnTo>
                    <a:cubicBezTo>
                      <a:pt x="1412061" y="198095"/>
                      <a:pt x="1379735" y="230420"/>
                      <a:pt x="1339860" y="230420"/>
                    </a:cubicBezTo>
                    <a:lnTo>
                      <a:pt x="72200" y="230420"/>
                    </a:lnTo>
                    <a:cubicBezTo>
                      <a:pt x="53052" y="230420"/>
                      <a:pt x="34687" y="222813"/>
                      <a:pt x="21147" y="209273"/>
                    </a:cubicBezTo>
                    <a:cubicBezTo>
                      <a:pt x="7607" y="195733"/>
                      <a:pt x="0" y="177368"/>
                      <a:pt x="0" y="158220"/>
                    </a:cubicBezTo>
                    <a:lnTo>
                      <a:pt x="0" y="72200"/>
                    </a:lnTo>
                    <a:cubicBezTo>
                      <a:pt x="0" y="53052"/>
                      <a:pt x="7607" y="34687"/>
                      <a:pt x="21147" y="21147"/>
                    </a:cubicBezTo>
                    <a:cubicBezTo>
                      <a:pt x="34687" y="7607"/>
                      <a:pt x="53052" y="0"/>
                      <a:pt x="72200" y="0"/>
                    </a:cubicBezTo>
                    <a:close/>
                  </a:path>
                </a:pathLst>
              </a:custGeom>
              <a:solidFill>
                <a:srgbClr val="7D1916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1412061" cy="287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5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Conditional Probability 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7971158"/>
              <a:ext cx="7148557" cy="1166501"/>
              <a:chOff x="0" y="0"/>
              <a:chExt cx="1412061" cy="23042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412061" cy="230420"/>
              </a:xfrm>
              <a:custGeom>
                <a:avLst/>
                <a:gdLst/>
                <a:ahLst/>
                <a:cxnLst/>
                <a:rect l="l" t="t" r="r" b="b"/>
                <a:pathLst>
                  <a:path w="1412061" h="230420">
                    <a:moveTo>
                      <a:pt x="72200" y="0"/>
                    </a:moveTo>
                    <a:lnTo>
                      <a:pt x="1339860" y="0"/>
                    </a:lnTo>
                    <a:cubicBezTo>
                      <a:pt x="1359009" y="0"/>
                      <a:pt x="1377373" y="7607"/>
                      <a:pt x="1390914" y="21147"/>
                    </a:cubicBezTo>
                    <a:cubicBezTo>
                      <a:pt x="1404454" y="34687"/>
                      <a:pt x="1412061" y="53052"/>
                      <a:pt x="1412061" y="72200"/>
                    </a:cubicBezTo>
                    <a:lnTo>
                      <a:pt x="1412061" y="158220"/>
                    </a:lnTo>
                    <a:cubicBezTo>
                      <a:pt x="1412061" y="198095"/>
                      <a:pt x="1379735" y="230420"/>
                      <a:pt x="1339860" y="230420"/>
                    </a:cubicBezTo>
                    <a:lnTo>
                      <a:pt x="72200" y="230420"/>
                    </a:lnTo>
                    <a:cubicBezTo>
                      <a:pt x="53052" y="230420"/>
                      <a:pt x="34687" y="222813"/>
                      <a:pt x="21147" y="209273"/>
                    </a:cubicBezTo>
                    <a:cubicBezTo>
                      <a:pt x="7607" y="195733"/>
                      <a:pt x="0" y="177368"/>
                      <a:pt x="0" y="158220"/>
                    </a:cubicBezTo>
                    <a:lnTo>
                      <a:pt x="0" y="72200"/>
                    </a:lnTo>
                    <a:cubicBezTo>
                      <a:pt x="0" y="53052"/>
                      <a:pt x="7607" y="34687"/>
                      <a:pt x="21147" y="21147"/>
                    </a:cubicBezTo>
                    <a:cubicBezTo>
                      <a:pt x="34687" y="7607"/>
                      <a:pt x="53052" y="0"/>
                      <a:pt x="72200" y="0"/>
                    </a:cubicBezTo>
                    <a:close/>
                  </a:path>
                </a:pathLst>
              </a:custGeom>
              <a:solidFill>
                <a:srgbClr val="7D1916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57150"/>
                <a:ext cx="1412061" cy="287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5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SOW/HOLD Decision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9747259"/>
              <a:ext cx="7148557" cy="1037187"/>
              <a:chOff x="0" y="0"/>
              <a:chExt cx="1412061" cy="20487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412061" cy="204876"/>
              </a:xfrm>
              <a:custGeom>
                <a:avLst/>
                <a:gdLst/>
                <a:ahLst/>
                <a:cxnLst/>
                <a:rect l="l" t="t" r="r" b="b"/>
                <a:pathLst>
                  <a:path w="1412061" h="204876">
                    <a:moveTo>
                      <a:pt x="72200" y="0"/>
                    </a:moveTo>
                    <a:lnTo>
                      <a:pt x="1339860" y="0"/>
                    </a:lnTo>
                    <a:cubicBezTo>
                      <a:pt x="1359009" y="0"/>
                      <a:pt x="1377373" y="7607"/>
                      <a:pt x="1390914" y="21147"/>
                    </a:cubicBezTo>
                    <a:cubicBezTo>
                      <a:pt x="1404454" y="34687"/>
                      <a:pt x="1412061" y="53052"/>
                      <a:pt x="1412061" y="72200"/>
                    </a:cubicBezTo>
                    <a:lnTo>
                      <a:pt x="1412061" y="132676"/>
                    </a:lnTo>
                    <a:cubicBezTo>
                      <a:pt x="1412061" y="172551"/>
                      <a:pt x="1379735" y="204876"/>
                      <a:pt x="1339860" y="204876"/>
                    </a:cubicBezTo>
                    <a:lnTo>
                      <a:pt x="72200" y="204876"/>
                    </a:lnTo>
                    <a:cubicBezTo>
                      <a:pt x="53052" y="204876"/>
                      <a:pt x="34687" y="197270"/>
                      <a:pt x="21147" y="183729"/>
                    </a:cubicBezTo>
                    <a:cubicBezTo>
                      <a:pt x="7607" y="170189"/>
                      <a:pt x="0" y="151825"/>
                      <a:pt x="0" y="132676"/>
                    </a:cubicBezTo>
                    <a:lnTo>
                      <a:pt x="0" y="72200"/>
                    </a:lnTo>
                    <a:cubicBezTo>
                      <a:pt x="0" y="53052"/>
                      <a:pt x="7607" y="34687"/>
                      <a:pt x="21147" y="21147"/>
                    </a:cubicBezTo>
                    <a:cubicBezTo>
                      <a:pt x="34687" y="7607"/>
                      <a:pt x="53052" y="0"/>
                      <a:pt x="72200" y="0"/>
                    </a:cubicBezTo>
                    <a:close/>
                  </a:path>
                </a:pathLst>
              </a:custGeom>
              <a:solidFill>
                <a:srgbClr val="7D1916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1412061" cy="2620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5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Metrics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>
              <a:off x="3574278" y="782442"/>
              <a:ext cx="0" cy="6096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3574278" y="2253743"/>
              <a:ext cx="0" cy="6096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3574278" y="3809356"/>
              <a:ext cx="0" cy="6096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3574278" y="5585457"/>
              <a:ext cx="0" cy="6096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3574278" y="7361558"/>
              <a:ext cx="0" cy="6096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3574278" y="9137659"/>
              <a:ext cx="0" cy="6096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8882385" y="5461783"/>
            <a:ext cx="8376915" cy="392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Python-based simulation using NumPy, Pandas, SciPy, Matplotlib, scikit-learn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Historical dataset: rainfall in india 1901–2015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Focused on Gujarat Region and monsoon rainfall (Jun–Sep)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Applied log transformation to reduce rainfall skewness and support probabilistic modeling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Reused M3 deterministic baseline and extended it into M4 randomized forecasting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543930" y="1461236"/>
            <a:ext cx="8755880" cy="5647357"/>
          </a:xfrm>
          <a:custGeom>
            <a:avLst/>
            <a:gdLst/>
            <a:ahLst/>
            <a:cxnLst/>
            <a:rect l="l" t="t" r="r" b="b"/>
            <a:pathLst>
              <a:path w="8755880" h="5647357">
                <a:moveTo>
                  <a:pt x="0" y="0"/>
                </a:moveTo>
                <a:lnTo>
                  <a:pt x="8755880" y="0"/>
                </a:lnTo>
                <a:lnTo>
                  <a:pt x="8755880" y="5647357"/>
                </a:lnTo>
                <a:lnTo>
                  <a:pt x="0" y="56473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3930" y="349250"/>
            <a:ext cx="941109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Randomized Forecast Generator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34027" y="1385036"/>
            <a:ext cx="7197328" cy="7263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Generates the main probabilistic forecast for M4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Replaces M3’s fixed forecast with a randomized but controlled forecast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Uses Latin Hypercube Sampling (LHS) for better distribution coverage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Converts samples to rainfall forecasts using Normal inverse CDF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Combines sampled values with historical rainfall using: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X=αY+(1−α)LHSX = \alpha Y + (1-\alpha)\text{LHS}X=αY+(1−α)LHS</a:t>
            </a:r>
          </a:p>
          <a:p>
            <a:pPr marL="561337" lvl="1" indent="-280669" algn="l">
              <a:lnSpc>
                <a:spcPts val="3899"/>
              </a:lnSpc>
              <a:buFont typeface="Arial"/>
              <a:buChar char="•"/>
            </a:pPr>
            <a:r>
              <a:rPr lang="en-US" sz="2599">
                <a:solidFill>
                  <a:srgbClr val="7D1916"/>
                </a:solidFill>
                <a:latin typeface="Canva Sans"/>
                <a:ea typeface="Canva Sans"/>
                <a:cs typeface="Canva Sans"/>
                <a:sym typeface="Canva Sans"/>
              </a:rPr>
              <a:t>Produces forecasts that are uncertainty-aware, statistically realistic, and decision-oriented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2665806"/>
          <a:ext cx="10023120" cy="6305552"/>
        </p:xfrm>
        <a:graphic>
          <a:graphicData uri="http://schemas.openxmlformats.org/drawingml/2006/table">
            <a:tbl>
              <a:tblPr/>
              <a:tblGrid>
                <a:gridCol w="243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537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M3 Deterministic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M4 Randomized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37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Forecast type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Constant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Year-varying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37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Correlation </a:t>
                      </a:r>
                      <a:r>
                        <a:rPr lang="en-US" sz="2000" i="1">
                          <a:solidFill>
                            <a:srgbClr val="000000"/>
                          </a:solidFill>
                          <a:latin typeface="Canva Sans Italics"/>
                          <a:ea typeface="Canva Sans Italics"/>
                          <a:cs typeface="Canva Sans Italics"/>
                          <a:sym typeface="Canva Sans Italics"/>
                        </a:rPr>
                        <a:t>ρ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≈ 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≈ 0.35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537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Decision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Always SOW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SOW + HOLD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371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Adaptivity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69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Practical usefulness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Higher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46486" y="21426"/>
            <a:ext cx="14995029" cy="225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Results: Deterministic vs Randomized </a:t>
            </a:r>
          </a:p>
          <a:p>
            <a:pPr algn="ctr">
              <a:lnSpc>
                <a:spcPts val="8959"/>
              </a:lnSpc>
              <a:spcBef>
                <a:spcPct val="0"/>
              </a:spcBef>
            </a:pPr>
            <a:endParaRPr lang="en-US" sz="6399" b="1">
              <a:solidFill>
                <a:srgbClr val="7D1916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46486" y="1537410"/>
            <a:ext cx="5081067" cy="11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Qualitative comparison :   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endParaRPr lang="en-US" sz="3199" b="1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434692" y="2717083"/>
            <a:ext cx="4310258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Milestone 3 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sz="24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Y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&gt; </a:t>
            </a:r>
            <a:r>
              <a:rPr lang="en-US" sz="24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∣</a:t>
            </a:r>
            <a:r>
              <a:rPr lang="en-US" sz="24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X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= 0.622 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Accuracy = </a:t>
            </a:r>
            <a:r>
              <a:rPr lang="en-US" sz="2499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68.7%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434692" y="5330825"/>
            <a:ext cx="5338958" cy="392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Milestone 4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 correlation ρ ≈ 0.35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Better ROC-AUC / Brier / CRPS qualitatively 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Better drought detection and adaptive decisions 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23594" y="162004"/>
            <a:ext cx="8040812" cy="1123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Performance Metrics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30058" y="1598934"/>
            <a:ext cx="12627884" cy="112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Metrics :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Accuracy | ROC-AUC | Brier | CRPS | MAE/RMSE | Reliability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727330"/>
            <a:ext cx="12291304" cy="743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endParaRPr dirty="0"/>
          </a:p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: 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Measures overall correctness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Can be misleading with imbalanced data</a:t>
            </a:r>
          </a:p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ROC-AUC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Evaluates how well the model distinguishes risky vs non-risky years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Brier Score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Measures accuracy of predicted probabilities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CRPS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Evaluates the full probabilistic forecast (not just yes/no outcome)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MAE / RMSE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Measure how close predictions are to actual values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 (Calibration)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Checks if predicted probabilities are trustworthy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73127" y="445453"/>
            <a:ext cx="12541746" cy="1052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Inference (Domain Perspective)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640526"/>
            <a:ext cx="14785568" cy="642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the agriculture / climate domain perspective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Monsoon planning is inherently uncertain.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Binary decisions like SOW vs HOLD should be based on risk, not just mean prediction.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static forecast can be dangerous because it overcommits.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Probabilistic forecasts: 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04516" lvl="1" indent="-302258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improve drought awareness,</a:t>
            </a:r>
          </a:p>
          <a:p>
            <a:pPr marL="604516" lvl="1" indent="-302258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support better irrigation planning, </a:t>
            </a:r>
          </a:p>
          <a:p>
            <a:pPr marL="604516" lvl="1" indent="-302258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reduce overconfidence,</a:t>
            </a:r>
          </a:p>
          <a:p>
            <a:pPr marL="604516" lvl="1" indent="-302258" algn="l">
              <a:lnSpc>
                <a:spcPts val="391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align better with real-world variability.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65289" y="342900"/>
            <a:ext cx="11757422" cy="1052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 dirty="0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 &amp; Future Work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003050" y="1790700"/>
          <a:ext cx="14281900" cy="7467599"/>
        </p:xfrm>
        <a:graphic>
          <a:graphicData uri="http://schemas.openxmlformats.org/drawingml/2006/table">
            <a:tbl>
              <a:tblPr/>
              <a:tblGrid>
                <a:gridCol w="714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6305">
                <a:tc>
                  <a:txBody>
                    <a:bodyPr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Current Limitations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Future Improvements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354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Uses simplified simulation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real-world weather datasets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354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Focused only on Gujarat region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Extend to multiple regions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354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input features (rainfall only)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temperature, humidity, ENSO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354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Assumes normal distribution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advanced / non-Gaussian 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354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Simple decision rule (0.5 threshold)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optimized or ML-based decisions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354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real-time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 web-based decision tool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0" y="419100"/>
            <a:ext cx="5048973" cy="1052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b="1" dirty="0">
                <a:solidFill>
                  <a:srgbClr val="7D19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0600" y="2400300"/>
            <a:ext cx="15818800" cy="488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Samal, N., Ashwin, R., Singhal, A., Jha, S.K., Robertson, D.E. (2023). Using a Bayesian joint probability approach to improve the skill of medium-range forecasts of the Indian summer monsoon rainfall. Journal of Hydrology: Regional Studies, 45, 101284.</a:t>
            </a:r>
          </a:p>
          <a:p>
            <a:pPr marL="496569" lvl="1" indent="-248284">
              <a:lnSpc>
                <a:spcPts val="321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https://www.sciencedirect.com/science/article/pii/S221458182200297X</a:t>
            </a:r>
            <a:endParaRPr lang="en-US" sz="2299" b="1" dirty="0">
              <a:solidFill>
                <a:srgbClr val="7D1916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219"/>
              </a:lnSpc>
            </a:pPr>
            <a:endParaRPr lang="en-US" sz="2299" b="1" dirty="0">
              <a:solidFill>
                <a:srgbClr val="7D1916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219"/>
              </a:lnSpc>
            </a:pPr>
            <a:endParaRPr lang="en-US" sz="2299" b="1" dirty="0">
              <a:solidFill>
                <a:srgbClr val="7D1916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All-India Rainfall Dataset 1901–2015. A  </a:t>
            </a:r>
            <a:r>
              <a:rPr lang="en-US" sz="2299" b="1" dirty="0" err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vailable</a:t>
            </a:r>
            <a:r>
              <a:rPr lang="en-US" sz="2299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 from the Indian Meteorological Department (IMD). Accessed via Kaggle.</a:t>
            </a:r>
          </a:p>
          <a:p>
            <a:pPr marL="496569" lvl="1" indent="-248284">
              <a:lnSpc>
                <a:spcPts val="3219"/>
              </a:lnSpc>
              <a:buFont typeface="Arial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https://www.kaggle.com/datasets/rajanand/rainfall-in-india?resource=download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8285" lvl="1">
              <a:lnSpc>
                <a:spcPts val="3219"/>
              </a:lnSpc>
            </a:pPr>
            <a:endParaRPr lang="en-US" sz="2299" b="1" dirty="0">
              <a:solidFill>
                <a:srgbClr val="7D1916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endParaRPr lang="en-US" sz="2299" b="1" dirty="0">
              <a:solidFill>
                <a:srgbClr val="7D1916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219"/>
              </a:lnSpc>
            </a:pPr>
            <a:endParaRPr lang="en-US" sz="2299" b="1" dirty="0">
              <a:solidFill>
                <a:srgbClr val="7D1916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2246</Words>
  <Application>Microsoft Macintosh PowerPoint</Application>
  <PresentationFormat>Custom</PresentationFormat>
  <Paragraphs>317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Canva Sans Bold</vt:lpstr>
      <vt:lpstr>Calibri</vt:lpstr>
      <vt:lpstr>IBM Plex Sans Bold</vt:lpstr>
      <vt:lpstr>Arial Bold</vt:lpstr>
      <vt:lpstr>Canva Sans</vt:lpstr>
      <vt:lpstr>Helvetica World Bold</vt:lpstr>
      <vt:lpstr>Helvetica World</vt:lpstr>
      <vt:lpstr>Canva Sans Medium</vt:lpstr>
      <vt:lpstr>Canva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S1_G15_CLI_M5</dc:title>
  <cp:lastModifiedBy>patelvrunda4545@gmail.com</cp:lastModifiedBy>
  <cp:revision>3</cp:revision>
  <dcterms:created xsi:type="dcterms:W3CDTF">2006-08-16T00:00:00Z</dcterms:created>
  <dcterms:modified xsi:type="dcterms:W3CDTF">2026-04-08T21:16:46Z</dcterms:modified>
  <dc:identifier>DAHGRkSfDTA</dc:identifier>
</cp:coreProperties>
</file>